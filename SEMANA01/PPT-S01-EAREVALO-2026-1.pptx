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73" r:id="rId7"/>
    <p:sldId id="266" r:id="rId8"/>
    <p:sldId id="274" r:id="rId9"/>
    <p:sldId id="275" r:id="rId10"/>
    <p:sldId id="276" r:id="rId11"/>
    <p:sldId id="269" r:id="rId12"/>
    <p:sldId id="278" r:id="rId13"/>
    <p:sldId id="268" r:id="rId14"/>
    <p:sldId id="271" r:id="rId15"/>
    <p:sldId id="281" r:id="rId16"/>
    <p:sldId id="270" r:id="rId17"/>
    <p:sldId id="280" r:id="rId18"/>
    <p:sldId id="261" r:id="rId19"/>
    <p:sldId id="279" r:id="rId20"/>
    <p:sldId id="282" r:id="rId21"/>
    <p:sldId id="283" r:id="rId22"/>
    <p:sldId id="263" r:id="rId23"/>
    <p:sldId id="264" r:id="rId24"/>
    <p:sldId id="265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9" roundtripDataSignature="AMtx7mgmC78rpXzTZNkDGPP4PGxQiLzd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8B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85"/>
    <p:restoredTop sz="94690"/>
  </p:normalViewPr>
  <p:slideViewPr>
    <p:cSldViewPr snapToGrid="0">
      <p:cViewPr varScale="1">
        <p:scale>
          <a:sx n="105" d="100"/>
          <a:sy n="105" d="100"/>
        </p:scale>
        <p:origin x="86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1120870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2" name="Google Shape;7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596910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8" name="Google Shape;7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362762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bba47f0c8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4" name="Google Shape;84;g2bba47f0c8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33854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bba47f0c8b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0" name="Google Shape;90;g2bba47f0c8b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214170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456844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bcaf81546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3" name="Google Shape;103;g2bcaf81546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34406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bba47f0c8b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6" name="Google Shape;116;g2bba47f0c8b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382744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bba47f0c8b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2" name="Google Shape;122;g2bba47f0c8b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750023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19bebcc09665a62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19bebcc09665a62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823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7"/>
          <p:cNvSpPr txBox="1">
            <a:spLocks noGrp="1"/>
          </p:cNvSpPr>
          <p:nvPr>
            <p:ph type="ctrTitle"/>
          </p:nvPr>
        </p:nvSpPr>
        <p:spPr>
          <a:xfrm>
            <a:off x="1523998" y="1840708"/>
            <a:ext cx="8948057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subTitle" idx="1"/>
          </p:nvPr>
        </p:nvSpPr>
        <p:spPr>
          <a:xfrm>
            <a:off x="1523999" y="4501924"/>
            <a:ext cx="8948057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7"/>
          <p:cNvSpPr txBox="1">
            <a:spLocks noGrp="1"/>
          </p:cNvSpPr>
          <p:nvPr>
            <p:ph type="dt" idx="10"/>
          </p:nvPr>
        </p:nvSpPr>
        <p:spPr>
          <a:xfrm>
            <a:off x="37737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ftr" idx="11"/>
          </p:nvPr>
        </p:nvSpPr>
        <p:spPr>
          <a:xfrm>
            <a:off x="3392715" y="635544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sldNum" idx="12"/>
          </p:nvPr>
        </p:nvSpPr>
        <p:spPr>
          <a:xfrm>
            <a:off x="7779658" y="635544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9"/>
          <p:cNvSpPr txBox="1">
            <a:spLocks noGrp="1"/>
          </p:cNvSpPr>
          <p:nvPr>
            <p:ph type="title"/>
          </p:nvPr>
        </p:nvSpPr>
        <p:spPr>
          <a:xfrm>
            <a:off x="326572" y="365125"/>
            <a:ext cx="1024708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body" idx="1"/>
          </p:nvPr>
        </p:nvSpPr>
        <p:spPr>
          <a:xfrm>
            <a:off x="377372" y="1825625"/>
            <a:ext cx="1019628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37737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3392715" y="635544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7779658" y="635544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>
            <a:spLocks noGrp="1"/>
          </p:cNvSpPr>
          <p:nvPr>
            <p:ph type="title"/>
          </p:nvPr>
        </p:nvSpPr>
        <p:spPr>
          <a:xfrm>
            <a:off x="377372" y="399142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5"/>
          <p:cNvSpPr>
            <a:spLocks noGrp="1"/>
          </p:cNvSpPr>
          <p:nvPr>
            <p:ph type="pic" idx="2"/>
          </p:nvPr>
        </p:nvSpPr>
        <p:spPr>
          <a:xfrm>
            <a:off x="4493759" y="992187"/>
            <a:ext cx="6094412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8" name="Google Shape;28;p15"/>
          <p:cNvSpPr txBox="1">
            <a:spLocks noGrp="1"/>
          </p:cNvSpPr>
          <p:nvPr>
            <p:ph type="body" idx="1"/>
          </p:nvPr>
        </p:nvSpPr>
        <p:spPr>
          <a:xfrm>
            <a:off x="377372" y="2049462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dt" idx="10"/>
          </p:nvPr>
        </p:nvSpPr>
        <p:spPr>
          <a:xfrm>
            <a:off x="37737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ftr" idx="11"/>
          </p:nvPr>
        </p:nvSpPr>
        <p:spPr>
          <a:xfrm>
            <a:off x="3392715" y="635544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7779658" y="635544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title"/>
          </p:nvPr>
        </p:nvSpPr>
        <p:spPr>
          <a:xfrm>
            <a:off x="326572" y="365125"/>
            <a:ext cx="1024708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body" idx="1"/>
          </p:nvPr>
        </p:nvSpPr>
        <p:spPr>
          <a:xfrm>
            <a:off x="326572" y="1789339"/>
            <a:ext cx="513079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2"/>
          </p:nvPr>
        </p:nvSpPr>
        <p:spPr>
          <a:xfrm>
            <a:off x="5660572" y="1789339"/>
            <a:ext cx="491308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37737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3392715" y="635544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7779658" y="635544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1"/>
          <p:cNvSpPr txBox="1">
            <a:spLocks noGrp="1"/>
          </p:cNvSpPr>
          <p:nvPr>
            <p:ph type="dt" idx="10"/>
          </p:nvPr>
        </p:nvSpPr>
        <p:spPr>
          <a:xfrm>
            <a:off x="37737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ftr" idx="11"/>
          </p:nvPr>
        </p:nvSpPr>
        <p:spPr>
          <a:xfrm>
            <a:off x="3392715" y="635544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sldNum" idx="12"/>
          </p:nvPr>
        </p:nvSpPr>
        <p:spPr>
          <a:xfrm>
            <a:off x="7779658" y="635544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3"/>
          <p:cNvSpPr txBox="1">
            <a:spLocks noGrp="1"/>
          </p:cNvSpPr>
          <p:nvPr>
            <p:ph type="title"/>
          </p:nvPr>
        </p:nvSpPr>
        <p:spPr>
          <a:xfrm>
            <a:off x="326572" y="365125"/>
            <a:ext cx="1024708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dt" idx="10"/>
          </p:nvPr>
        </p:nvSpPr>
        <p:spPr>
          <a:xfrm>
            <a:off x="37737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ftr" idx="11"/>
          </p:nvPr>
        </p:nvSpPr>
        <p:spPr>
          <a:xfrm>
            <a:off x="3392715" y="635544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sldNum" idx="12"/>
          </p:nvPr>
        </p:nvSpPr>
        <p:spPr>
          <a:xfrm>
            <a:off x="7779658" y="635544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4"/>
          <p:cNvSpPr txBox="1">
            <a:spLocks noGrp="1"/>
          </p:cNvSpPr>
          <p:nvPr>
            <p:ph type="title"/>
          </p:nvPr>
        </p:nvSpPr>
        <p:spPr>
          <a:xfrm>
            <a:off x="377372" y="399143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body" idx="1"/>
          </p:nvPr>
        </p:nvSpPr>
        <p:spPr>
          <a:xfrm>
            <a:off x="4421415" y="992187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body" idx="2"/>
          </p:nvPr>
        </p:nvSpPr>
        <p:spPr>
          <a:xfrm>
            <a:off x="377372" y="2049462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dt" idx="10"/>
          </p:nvPr>
        </p:nvSpPr>
        <p:spPr>
          <a:xfrm>
            <a:off x="37737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ftr" idx="11"/>
          </p:nvPr>
        </p:nvSpPr>
        <p:spPr>
          <a:xfrm>
            <a:off x="3392715" y="635544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4"/>
          <p:cNvSpPr txBox="1">
            <a:spLocks noGrp="1"/>
          </p:cNvSpPr>
          <p:nvPr>
            <p:ph type="sldNum" idx="12"/>
          </p:nvPr>
        </p:nvSpPr>
        <p:spPr>
          <a:xfrm>
            <a:off x="7779658" y="635544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6"/>
          <p:cNvSpPr txBox="1">
            <a:spLocks noGrp="1"/>
          </p:cNvSpPr>
          <p:nvPr>
            <p:ph type="title"/>
          </p:nvPr>
        </p:nvSpPr>
        <p:spPr>
          <a:xfrm>
            <a:off x="326572" y="365125"/>
            <a:ext cx="1024708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body" idx="1"/>
          </p:nvPr>
        </p:nvSpPr>
        <p:spPr>
          <a:xfrm rot="5400000">
            <a:off x="3299846" y="-1096849"/>
            <a:ext cx="4351338" cy="10196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dt" idx="10"/>
          </p:nvPr>
        </p:nvSpPr>
        <p:spPr>
          <a:xfrm>
            <a:off x="37737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ftr" idx="11"/>
          </p:nvPr>
        </p:nvSpPr>
        <p:spPr>
          <a:xfrm>
            <a:off x="3392715" y="635544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sldNum" idx="12"/>
          </p:nvPr>
        </p:nvSpPr>
        <p:spPr>
          <a:xfrm>
            <a:off x="7779658" y="635544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>
            <a:spLocks noGrp="1"/>
          </p:cNvSpPr>
          <p:nvPr>
            <p:ph type="title"/>
          </p:nvPr>
        </p:nvSpPr>
        <p:spPr>
          <a:xfrm rot="5400000">
            <a:off x="6500245" y="2060008"/>
            <a:ext cx="5811838" cy="2422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 txBox="1">
            <a:spLocks noGrp="1"/>
          </p:cNvSpPr>
          <p:nvPr>
            <p:ph type="body" idx="1"/>
          </p:nvPr>
        </p:nvSpPr>
        <p:spPr>
          <a:xfrm rot="5400000">
            <a:off x="1338603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dt" idx="10"/>
          </p:nvPr>
        </p:nvSpPr>
        <p:spPr>
          <a:xfrm>
            <a:off x="37737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ftr" idx="11"/>
          </p:nvPr>
        </p:nvSpPr>
        <p:spPr>
          <a:xfrm>
            <a:off x="3392715" y="635544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sldNum" idx="12"/>
          </p:nvPr>
        </p:nvSpPr>
        <p:spPr>
          <a:xfrm>
            <a:off x="7779658" y="635544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de cierre">
  <p:cSld name="CUSTOM">
    <p:bg>
      <p:bgPr>
        <a:solidFill>
          <a:srgbClr val="FFFFFF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9bebcc09665a62_8"/>
          <p:cNvSpPr/>
          <p:nvPr/>
        </p:nvSpPr>
        <p:spPr>
          <a:xfrm>
            <a:off x="13575" y="16300"/>
            <a:ext cx="12192000" cy="6841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9" name="Google Shape;69;g119bebcc09665a62_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40828" y="2481579"/>
            <a:ext cx="4510344" cy="18948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6"/>
          <p:cNvPicPr preferRelativeResize="0"/>
          <p:nvPr/>
        </p:nvPicPr>
        <p:blipFill rotWithShape="1">
          <a:blip r:embed="rId12">
            <a:alphaModFix/>
          </a:blip>
          <a:srcRect l="650"/>
          <a:stretch/>
        </p:blipFill>
        <p:spPr>
          <a:xfrm>
            <a:off x="0" y="0"/>
            <a:ext cx="12192000" cy="685264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6"/>
          <p:cNvSpPr txBox="1">
            <a:spLocks noGrp="1"/>
          </p:cNvSpPr>
          <p:nvPr>
            <p:ph type="title"/>
          </p:nvPr>
        </p:nvSpPr>
        <p:spPr>
          <a:xfrm>
            <a:off x="326572" y="365125"/>
            <a:ext cx="1024708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body" idx="1"/>
          </p:nvPr>
        </p:nvSpPr>
        <p:spPr>
          <a:xfrm>
            <a:off x="377372" y="1825625"/>
            <a:ext cx="1019628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dt" idx="10"/>
          </p:nvPr>
        </p:nvSpPr>
        <p:spPr>
          <a:xfrm>
            <a:off x="37737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ftr" idx="11"/>
          </p:nvPr>
        </p:nvSpPr>
        <p:spPr>
          <a:xfrm>
            <a:off x="3392715" y="635544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sldNum" idx="12"/>
          </p:nvPr>
        </p:nvSpPr>
        <p:spPr>
          <a:xfrm>
            <a:off x="7779658" y="635544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e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coreybutler/nvm-windows/releases/tag/1.2.2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"/>
          <p:cNvSpPr txBox="1">
            <a:spLocks noGrp="1"/>
          </p:cNvSpPr>
          <p:nvPr>
            <p:ph type="ctrTitle"/>
          </p:nvPr>
        </p:nvSpPr>
        <p:spPr>
          <a:xfrm>
            <a:off x="953585" y="1899280"/>
            <a:ext cx="9608821" cy="149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dirty="0"/>
              <a:t>Desarrollo de Aplicaciones Web Avanzado</a:t>
            </a:r>
            <a:endParaRPr dirty="0"/>
          </a:p>
        </p:txBody>
      </p:sp>
      <p:sp>
        <p:nvSpPr>
          <p:cNvPr id="75" name="Google Shape;75;p1"/>
          <p:cNvSpPr txBox="1">
            <a:spLocks noGrp="1"/>
          </p:cNvSpPr>
          <p:nvPr>
            <p:ph type="subTitle" idx="1"/>
          </p:nvPr>
        </p:nvSpPr>
        <p:spPr>
          <a:xfrm>
            <a:off x="1203955" y="6000750"/>
            <a:ext cx="894805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PE" dirty="0">
                <a:solidFill>
                  <a:srgbClr val="888888"/>
                </a:solidFill>
              </a:rPr>
              <a:t>Carrera: </a:t>
            </a:r>
            <a:r>
              <a:rPr lang="es-ES" dirty="0">
                <a:solidFill>
                  <a:srgbClr val="888888"/>
                </a:solidFill>
              </a:rPr>
              <a:t>Diseño y Desarrollo de Software – </a:t>
            </a:r>
            <a:r>
              <a:rPr lang="es-PE" dirty="0">
                <a:solidFill>
                  <a:srgbClr val="888888"/>
                </a:solidFill>
              </a:rPr>
              <a:t>C24</a:t>
            </a:r>
            <a:endParaRPr dirty="0">
              <a:solidFill>
                <a:srgbClr val="888888"/>
              </a:solidFill>
            </a:endParaRPr>
          </a:p>
        </p:txBody>
      </p:sp>
      <p:sp>
        <p:nvSpPr>
          <p:cNvPr id="2" name="Google Shape;74;p1">
            <a:extLst>
              <a:ext uri="{FF2B5EF4-FFF2-40B4-BE49-F238E27FC236}">
                <a16:creationId xmlns:a16="http://schemas.microsoft.com/office/drawing/2014/main" id="{F4C05297-1236-BCCD-F1DE-E9CF42C2D2E5}"/>
              </a:ext>
            </a:extLst>
          </p:cNvPr>
          <p:cNvSpPr txBox="1">
            <a:spLocks/>
          </p:cNvSpPr>
          <p:nvPr/>
        </p:nvSpPr>
        <p:spPr>
          <a:xfrm>
            <a:off x="1203956" y="3514348"/>
            <a:ext cx="8948057" cy="822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6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dirty="0"/>
              <a:t>Tema de la sesión: Introducción a node.js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>
            <a:spLocks noGrp="1"/>
          </p:cNvSpPr>
          <p:nvPr>
            <p:ph type="title"/>
          </p:nvPr>
        </p:nvSpPr>
        <p:spPr>
          <a:xfrm>
            <a:off x="326572" y="1451610"/>
            <a:ext cx="10247086" cy="719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PE" sz="4000" dirty="0">
                <a:solidFill>
                  <a:srgbClr val="000000"/>
                </a:solidFill>
              </a:rPr>
              <a:t>Capacidades a lograr</a:t>
            </a:r>
            <a:endParaRPr sz="4000" dirty="0">
              <a:solidFill>
                <a:srgbClr val="000000"/>
              </a:solidFill>
            </a:endParaRPr>
          </a:p>
        </p:txBody>
      </p:sp>
      <p:sp>
        <p:nvSpPr>
          <p:cNvPr id="81" name="Google Shape;81;p2"/>
          <p:cNvSpPr txBox="1">
            <a:spLocks noGrp="1"/>
          </p:cNvSpPr>
          <p:nvPr>
            <p:ph type="body" idx="1"/>
          </p:nvPr>
        </p:nvSpPr>
        <p:spPr>
          <a:xfrm>
            <a:off x="217170" y="2713037"/>
            <a:ext cx="10356488" cy="143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42900">
              <a:lnSpc>
                <a:spcPct val="200000"/>
              </a:lnSpc>
              <a:spcBef>
                <a:spcPts val="0"/>
              </a:spcBef>
              <a:buClr>
                <a:srgbClr val="888888"/>
              </a:buClr>
              <a:buSzPts val="2400"/>
            </a:pPr>
            <a:r>
              <a:rPr lang="es-PE" sz="2400" dirty="0"/>
              <a:t>Identificar las principales características de Node.js.</a:t>
            </a:r>
          </a:p>
          <a:p>
            <a:pPr marL="342900">
              <a:lnSpc>
                <a:spcPct val="200000"/>
              </a:lnSpc>
              <a:spcBef>
                <a:spcPts val="0"/>
              </a:spcBef>
              <a:buClr>
                <a:srgbClr val="888888"/>
              </a:buClr>
              <a:buSzPts val="2400"/>
            </a:pPr>
            <a:r>
              <a:rPr lang="es-PE" sz="2400" dirty="0"/>
              <a:t>Instalar el entorno de ejecución Node.js.</a:t>
            </a:r>
            <a:endParaRPr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bba47f0c8b_0_0"/>
          <p:cNvSpPr txBox="1">
            <a:spLocks noGrp="1"/>
          </p:cNvSpPr>
          <p:nvPr>
            <p:ph type="title"/>
          </p:nvPr>
        </p:nvSpPr>
        <p:spPr>
          <a:xfrm>
            <a:off x="326572" y="365125"/>
            <a:ext cx="1024708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s-PE" sz="4000" dirty="0"/>
              <a:t>Contenido</a:t>
            </a:r>
            <a:endParaRPr sz="4000" dirty="0"/>
          </a:p>
        </p:txBody>
      </p:sp>
      <p:sp>
        <p:nvSpPr>
          <p:cNvPr id="87" name="Google Shape;87;g2bba47f0c8b_0_0"/>
          <p:cNvSpPr txBox="1">
            <a:spLocks noGrp="1"/>
          </p:cNvSpPr>
          <p:nvPr>
            <p:ph type="body" idx="1"/>
          </p:nvPr>
        </p:nvSpPr>
        <p:spPr>
          <a:xfrm>
            <a:off x="326572" y="2305685"/>
            <a:ext cx="10196286" cy="2312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19100">
              <a:lnSpc>
                <a:spcPct val="200000"/>
              </a:lnSpc>
              <a:spcBef>
                <a:spcPts val="0"/>
              </a:spcBef>
              <a:buSzPts val="2400"/>
            </a:pPr>
            <a:r>
              <a:rPr lang="es-PE" sz="2200" dirty="0"/>
              <a:t>Introducción a Node.js</a:t>
            </a:r>
          </a:p>
          <a:p>
            <a:pPr marL="419100">
              <a:lnSpc>
                <a:spcPct val="200000"/>
              </a:lnSpc>
              <a:spcBef>
                <a:spcPts val="0"/>
              </a:spcBef>
              <a:buSzPts val="2400"/>
            </a:pPr>
            <a:r>
              <a:rPr lang="es-ES" sz="2200" dirty="0"/>
              <a:t>Configuración del entorno de ejecución Node.js</a:t>
            </a:r>
            <a:endParaRPr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ront-End vs. Back-End Development: What's the Difference?">
            <a:extLst>
              <a:ext uri="{FF2B5EF4-FFF2-40B4-BE49-F238E27FC236}">
                <a16:creationId xmlns:a16="http://schemas.microsoft.com/office/drawing/2014/main" id="{3DACE328-784B-9E39-1AFA-640C20F784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131" y="532987"/>
            <a:ext cx="10085826" cy="5274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>
            <a:spLocks noGrp="1"/>
          </p:cNvSpPr>
          <p:nvPr>
            <p:ph type="title"/>
          </p:nvPr>
        </p:nvSpPr>
        <p:spPr>
          <a:xfrm>
            <a:off x="0" y="2296795"/>
            <a:ext cx="1060704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s-PE" sz="6600" dirty="0">
                <a:solidFill>
                  <a:srgbClr val="418B3D"/>
                </a:solidFill>
              </a:rPr>
              <a:t>Introducción a </a:t>
            </a:r>
            <a:r>
              <a:rPr lang="es-PE" sz="6600" dirty="0">
                <a:solidFill>
                  <a:schemeClr val="tx1"/>
                </a:solidFill>
              </a:rPr>
              <a:t>N</a:t>
            </a:r>
            <a:r>
              <a:rPr lang="es-PE" sz="6600" dirty="0"/>
              <a:t>ode.js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A3CACD4-C437-9444-3827-DDA4BA9874BB}"/>
              </a:ext>
            </a:extLst>
          </p:cNvPr>
          <p:cNvSpPr txBox="1"/>
          <p:nvPr/>
        </p:nvSpPr>
        <p:spPr>
          <a:xfrm>
            <a:off x="0" y="3967174"/>
            <a:ext cx="105841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dirty="0"/>
              <a:t>https://www.youtube.com/watch?v=xJzzu7MVZXw&amp;t=1s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6B7DE94-FF6F-D984-EA68-8FB4E55609B2}"/>
              </a:ext>
            </a:extLst>
          </p:cNvPr>
          <p:cNvSpPr txBox="1"/>
          <p:nvPr/>
        </p:nvSpPr>
        <p:spPr>
          <a:xfrm>
            <a:off x="0" y="2645327"/>
            <a:ext cx="1058418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6600" b="1" dirty="0">
                <a:solidFill>
                  <a:srgbClr val="418B3D"/>
                </a:solidFill>
              </a:rPr>
              <a:t>¿Qué es </a:t>
            </a:r>
            <a:r>
              <a:rPr lang="es-ES" sz="6600" b="1" dirty="0">
                <a:solidFill>
                  <a:schemeClr val="tx1"/>
                </a:solidFill>
              </a:rPr>
              <a:t>Node.js</a:t>
            </a:r>
            <a:r>
              <a:rPr lang="es-ES" sz="6600" b="1" dirty="0">
                <a:solidFill>
                  <a:srgbClr val="418B3D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6746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4F191490-87BB-7429-D18D-1DAF952E678F}"/>
              </a:ext>
            </a:extLst>
          </p:cNvPr>
          <p:cNvSpPr txBox="1"/>
          <p:nvPr/>
        </p:nvSpPr>
        <p:spPr>
          <a:xfrm>
            <a:off x="3473142" y="1312365"/>
            <a:ext cx="669174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dirty="0"/>
              <a:t>Node.js® es un </a:t>
            </a:r>
            <a:r>
              <a:rPr lang="es-ES" sz="2000" b="1" dirty="0"/>
              <a:t>entorno de ejecución de JavaScript</a:t>
            </a:r>
            <a:r>
              <a:rPr lang="es-ES" sz="2000" dirty="0"/>
              <a:t>, </a:t>
            </a:r>
            <a:r>
              <a:rPr lang="es-ES" sz="2000" b="1" dirty="0"/>
              <a:t>multiplataforma, de código abierto y con una arquitectura orientado a eventos</a:t>
            </a:r>
            <a:r>
              <a:rPr lang="es-ES" sz="2000" dirty="0"/>
              <a:t>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F716EC2-2999-AD32-AF9D-632086D39BBB}"/>
              </a:ext>
            </a:extLst>
          </p:cNvPr>
          <p:cNvSpPr txBox="1"/>
          <p:nvPr/>
        </p:nvSpPr>
        <p:spPr>
          <a:xfrm>
            <a:off x="0" y="177582"/>
            <a:ext cx="105841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b="1" dirty="0">
                <a:solidFill>
                  <a:srgbClr val="418B3D"/>
                </a:solidFill>
              </a:rPr>
              <a:t>¿Qué es </a:t>
            </a:r>
            <a:r>
              <a:rPr lang="es-ES" sz="3600" b="1" dirty="0">
                <a:solidFill>
                  <a:schemeClr val="tx1"/>
                </a:solidFill>
              </a:rPr>
              <a:t>Node.js</a:t>
            </a:r>
            <a:r>
              <a:rPr lang="es-ES" sz="3600" b="1" dirty="0">
                <a:solidFill>
                  <a:srgbClr val="418B3D"/>
                </a:solidFill>
              </a:rPr>
              <a:t>?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9C4578E-624A-EFE1-A8D2-69EC33F8ECDD}"/>
              </a:ext>
            </a:extLst>
          </p:cNvPr>
          <p:cNvSpPr txBox="1"/>
          <p:nvPr/>
        </p:nvSpPr>
        <p:spPr>
          <a:xfrm>
            <a:off x="338057" y="3188126"/>
            <a:ext cx="526709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dirty="0"/>
              <a:t>Node.js </a:t>
            </a:r>
            <a:r>
              <a:rPr lang="es-ES" sz="2000" b="1" dirty="0"/>
              <a:t>trabaja con un único hilo de ejecución que es el encargado  de organizar todo el flujo de trabajo que se deba realizar</a:t>
            </a:r>
            <a:r>
              <a:rPr lang="es-ES" sz="2000" dirty="0"/>
              <a:t>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EBF6D37-3A16-1CAC-E7D3-2D9FF15ACF66}"/>
              </a:ext>
            </a:extLst>
          </p:cNvPr>
          <p:cNvSpPr txBox="1"/>
          <p:nvPr/>
        </p:nvSpPr>
        <p:spPr>
          <a:xfrm>
            <a:off x="3114305" y="5304313"/>
            <a:ext cx="669174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dirty="0"/>
              <a:t>Node.js </a:t>
            </a:r>
            <a:r>
              <a:rPr lang="es-ES" sz="2000" b="1" dirty="0"/>
              <a:t>está basado en el motor V8 de </a:t>
            </a:r>
            <a:r>
              <a:rPr lang="es-ES" sz="2000" b="1" dirty="0" err="1"/>
              <a:t>Javascript</a:t>
            </a:r>
            <a:r>
              <a:rPr lang="es-ES" sz="2000" b="1" dirty="0"/>
              <a:t> de Google</a:t>
            </a:r>
            <a:r>
              <a:rPr lang="es-ES" sz="2000" dirty="0"/>
              <a:t>, el cual está  diseñado para correr en un navegador y ejecutar el código de </a:t>
            </a:r>
            <a:r>
              <a:rPr lang="es-ES" sz="2000" dirty="0" err="1"/>
              <a:t>Javascript</a:t>
            </a:r>
            <a:r>
              <a:rPr lang="es-ES" sz="2000" dirty="0"/>
              <a:t>  de una forma extremadamente rápida.</a:t>
            </a:r>
          </a:p>
        </p:txBody>
      </p:sp>
      <p:pic>
        <p:nvPicPr>
          <p:cNvPr id="1026" name="Picture 2" descr="Qué es V8 en JavaScript">
            <a:extLst>
              <a:ext uri="{FF2B5EF4-FFF2-40B4-BE49-F238E27FC236}">
                <a16:creationId xmlns:a16="http://schemas.microsoft.com/office/drawing/2014/main" id="{43234223-AE9C-FF5E-813B-1F132C9AA7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057" y="4646520"/>
            <a:ext cx="2532883" cy="1985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Entendiendo el Event Loop - Aprendiendo Node.JS">
            <a:extLst>
              <a:ext uri="{FF2B5EF4-FFF2-40B4-BE49-F238E27FC236}">
                <a16:creationId xmlns:a16="http://schemas.microsoft.com/office/drawing/2014/main" id="{5BE716BE-2C76-A743-A38A-73AF753763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0970" y="2558192"/>
            <a:ext cx="4538453" cy="2515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y journey to Node.js. Why did I choose it? | by Kamalov Otash | Medium">
            <a:extLst>
              <a:ext uri="{FF2B5EF4-FFF2-40B4-BE49-F238E27FC236}">
                <a16:creationId xmlns:a16="http://schemas.microsoft.com/office/drawing/2014/main" id="{51962A78-C09A-A452-904F-69025F31C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885" y="781093"/>
            <a:ext cx="3015384" cy="2261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0993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A9EDF-176B-3AE9-C22A-83EF5FD2B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98992BAD-0363-2D2E-1A1E-94E5EE0150D1}"/>
              </a:ext>
            </a:extLst>
          </p:cNvPr>
          <p:cNvSpPr txBox="1"/>
          <p:nvPr/>
        </p:nvSpPr>
        <p:spPr>
          <a:xfrm>
            <a:off x="0" y="177582"/>
            <a:ext cx="105841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b="1" dirty="0">
                <a:solidFill>
                  <a:srgbClr val="418B3D"/>
                </a:solidFill>
              </a:rPr>
              <a:t>¿Cuándo utilizar </a:t>
            </a:r>
            <a:r>
              <a:rPr lang="es-ES" sz="3600" b="1" dirty="0">
                <a:solidFill>
                  <a:schemeClr val="tx1"/>
                </a:solidFill>
              </a:rPr>
              <a:t>Node.js</a:t>
            </a:r>
            <a:r>
              <a:rPr lang="es-ES" sz="3600" b="1" dirty="0">
                <a:solidFill>
                  <a:srgbClr val="418B3D"/>
                </a:solidFill>
              </a:rPr>
              <a:t>?</a:t>
            </a:r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51655F39-22A0-EDD9-CE96-898E06C68B5F}"/>
              </a:ext>
            </a:extLst>
          </p:cNvPr>
          <p:cNvSpPr txBox="1"/>
          <p:nvPr/>
        </p:nvSpPr>
        <p:spPr>
          <a:xfrm>
            <a:off x="431627" y="1346395"/>
            <a:ext cx="4380404" cy="1238159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4130" algn="just">
              <a:lnSpc>
                <a:spcPct val="100000"/>
              </a:lnSpc>
              <a:spcBef>
                <a:spcPts val="1345"/>
              </a:spcBef>
              <a:tabLst>
                <a:tab pos="311150" algn="l"/>
                <a:tab pos="311785" algn="l"/>
              </a:tabLst>
            </a:pPr>
            <a:r>
              <a:rPr lang="es-ES" sz="2000" spc="-5" dirty="0">
                <a:cs typeface="Calibri"/>
              </a:rPr>
              <a:t>Cuando tienes muchas operaciones por desarrollar (acceso a ficheros, base de datos, procesamiento de información, etc.)</a:t>
            </a:r>
            <a:endParaRPr lang="es-ES" sz="2000" dirty="0">
              <a:cs typeface="Calibri"/>
            </a:endParaRP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C5EA5A24-2E91-CBD6-E470-B6A6392E0FB9}"/>
              </a:ext>
            </a:extLst>
          </p:cNvPr>
          <p:cNvSpPr txBox="1"/>
          <p:nvPr/>
        </p:nvSpPr>
        <p:spPr>
          <a:xfrm>
            <a:off x="5709105" y="1346395"/>
            <a:ext cx="4380404" cy="1238159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4130" algn="just">
              <a:lnSpc>
                <a:spcPct val="100000"/>
              </a:lnSpc>
              <a:spcBef>
                <a:spcPts val="1345"/>
              </a:spcBef>
              <a:tabLst>
                <a:tab pos="311150" algn="l"/>
                <a:tab pos="311785" algn="l"/>
              </a:tabLst>
            </a:pPr>
            <a:r>
              <a:rPr lang="es-ES" sz="2000" spc="-5" dirty="0">
                <a:cs typeface="Calibri"/>
              </a:rPr>
              <a:t>Cuando se necesita una conexión persistente entre el navegador y el servidor (juegos online, chats, herramientas de colaboración, etc.)</a:t>
            </a:r>
            <a:endParaRPr lang="es-ES" sz="2000" dirty="0">
              <a:cs typeface="Calibri"/>
            </a:endParaRPr>
          </a:p>
        </p:txBody>
      </p:sp>
      <p:pic>
        <p:nvPicPr>
          <p:cNvPr id="2052" name="Picture 4" descr="Base De Datos Vectores, Iconos, Gráficos y Fondos para Descargar Gratis">
            <a:extLst>
              <a:ext uri="{FF2B5EF4-FFF2-40B4-BE49-F238E27FC236}">
                <a16:creationId xmlns:a16="http://schemas.microsoft.com/office/drawing/2014/main" id="{866CA569-EF26-6DC9-4599-DBCC8B2CE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110" y="5143786"/>
            <a:ext cx="3708287" cy="1238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25DD563-E6A7-24CB-C00B-8213130AB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627" y="2761032"/>
            <a:ext cx="4202430" cy="2206276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261C0F9B-82A0-92C2-DA0C-569856AAE7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3575" y="2761032"/>
            <a:ext cx="2638028" cy="1902678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0F87E555-C295-7460-C878-6DBE525680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4490" y="4840188"/>
            <a:ext cx="3848100" cy="192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028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1FB1A-ADCC-B044-96CD-BCAE20BFC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C9026FC6-BC61-DD7D-D660-A129AA541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507" y="3994240"/>
            <a:ext cx="2851358" cy="2851358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93274656-7368-D661-8277-A75DDB39939B}"/>
              </a:ext>
            </a:extLst>
          </p:cNvPr>
          <p:cNvSpPr txBox="1"/>
          <p:nvPr/>
        </p:nvSpPr>
        <p:spPr>
          <a:xfrm>
            <a:off x="0" y="177582"/>
            <a:ext cx="105841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b="1" dirty="0">
                <a:solidFill>
                  <a:srgbClr val="418B3D"/>
                </a:solidFill>
              </a:rPr>
              <a:t>Características de </a:t>
            </a:r>
            <a:r>
              <a:rPr lang="es-ES" sz="3600" b="1" dirty="0">
                <a:solidFill>
                  <a:schemeClr val="tx1"/>
                </a:solidFill>
              </a:rPr>
              <a:t>Node.js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01E40B5-B015-EA04-810C-C4CF4300B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93" y="1470095"/>
            <a:ext cx="3816668" cy="1686152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CD37B6EA-A65B-0296-4D4C-AC38075AAB3E}"/>
              </a:ext>
            </a:extLst>
          </p:cNvPr>
          <p:cNvSpPr txBox="1"/>
          <p:nvPr/>
        </p:nvSpPr>
        <p:spPr>
          <a:xfrm>
            <a:off x="435293" y="898506"/>
            <a:ext cx="2243137" cy="496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1" dirty="0"/>
              <a:t>Multiplataforma</a:t>
            </a:r>
          </a:p>
        </p:txBody>
      </p:sp>
      <p:pic>
        <p:nvPicPr>
          <p:cNvPr id="3074" name="Picture 2" descr="De la base de datos clásica al NoSQL - tramullas.com">
            <a:extLst>
              <a:ext uri="{FF2B5EF4-FFF2-40B4-BE49-F238E27FC236}">
                <a16:creationId xmlns:a16="http://schemas.microsoft.com/office/drawing/2014/main" id="{75C7B136-D016-250B-C497-C40D610E88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4060" y="1777792"/>
            <a:ext cx="3238500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1BCE9A2-0C3D-5EA9-4BA3-32ACDE4AB7C6}"/>
              </a:ext>
            </a:extLst>
          </p:cNvPr>
          <p:cNvSpPr txBox="1"/>
          <p:nvPr/>
        </p:nvSpPr>
        <p:spPr>
          <a:xfrm>
            <a:off x="5814060" y="1116152"/>
            <a:ext cx="37214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/>
              <a:t>Ideal para bases de datos </a:t>
            </a:r>
            <a:r>
              <a:rPr lang="es-ES" sz="2000" b="1" dirty="0">
                <a:solidFill>
                  <a:srgbClr val="418B3D"/>
                </a:solidFill>
              </a:rPr>
              <a:t>no relacionales.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69A0D32-ECDC-279F-0472-2C3D848D68C8}"/>
              </a:ext>
            </a:extLst>
          </p:cNvPr>
          <p:cNvSpPr txBox="1"/>
          <p:nvPr/>
        </p:nvSpPr>
        <p:spPr>
          <a:xfrm>
            <a:off x="6096000" y="3751590"/>
            <a:ext cx="33594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/>
              <a:t>Posee una comunidad muy activa.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BF07AE1-7791-372F-84F1-7409F425A790}"/>
              </a:ext>
            </a:extLst>
          </p:cNvPr>
          <p:cNvSpPr txBox="1"/>
          <p:nvPr/>
        </p:nvSpPr>
        <p:spPr>
          <a:xfrm>
            <a:off x="271583" y="3429000"/>
            <a:ext cx="40437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/>
              <a:t>Construido para funcionar de manera asíncrona.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475BAA2E-2C30-EFBE-3D97-ACEB1A9443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39"/>
          <a:stretch/>
        </p:blipFill>
        <p:spPr bwMode="auto">
          <a:xfrm>
            <a:off x="778193" y="4316421"/>
            <a:ext cx="4325808" cy="2363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590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6CC5E-42DC-28ED-9AFE-1DDE815FE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AF5A569B-A5AB-8089-D91A-5FCA1FC20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310" y="3956781"/>
            <a:ext cx="3399660" cy="132343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1AE0BAA8-CB34-39B0-75F1-CF1F8EDC1434}"/>
              </a:ext>
            </a:extLst>
          </p:cNvPr>
          <p:cNvSpPr txBox="1"/>
          <p:nvPr/>
        </p:nvSpPr>
        <p:spPr>
          <a:xfrm>
            <a:off x="0" y="177582"/>
            <a:ext cx="105841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b="1" dirty="0">
                <a:solidFill>
                  <a:srgbClr val="418B3D"/>
                </a:solidFill>
              </a:rPr>
              <a:t>Características de</a:t>
            </a:r>
            <a:r>
              <a:rPr lang="es-ES" sz="3600" b="1" dirty="0">
                <a:solidFill>
                  <a:schemeClr val="tx1"/>
                </a:solidFill>
              </a:rPr>
              <a:t> Node.js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354EADF-3A61-C160-0193-CC8051F7BC77}"/>
              </a:ext>
            </a:extLst>
          </p:cNvPr>
          <p:cNvSpPr txBox="1"/>
          <p:nvPr/>
        </p:nvSpPr>
        <p:spPr>
          <a:xfrm>
            <a:off x="513779" y="1786646"/>
            <a:ext cx="438483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Es posible expandir nuestro código </a:t>
            </a:r>
            <a:r>
              <a:rPr lang="es-ES" sz="2000" b="1" dirty="0"/>
              <a:t>añadiendo módulos </a:t>
            </a:r>
            <a:r>
              <a:rPr lang="es-ES" sz="2000" dirty="0"/>
              <a:t>de forma fácil gracias al </a:t>
            </a:r>
            <a:r>
              <a:rPr lang="es-ES" sz="2000" dirty="0" err="1"/>
              <a:t>Node</a:t>
            </a:r>
            <a:r>
              <a:rPr lang="es-ES" sz="2000" dirty="0"/>
              <a:t> </a:t>
            </a:r>
            <a:r>
              <a:rPr lang="es-ES" sz="2000" dirty="0" err="1"/>
              <a:t>Package</a:t>
            </a:r>
            <a:r>
              <a:rPr lang="es-ES" sz="2000" dirty="0"/>
              <a:t>  Manager (</a:t>
            </a:r>
            <a:r>
              <a:rPr lang="es-ES" sz="2000" b="1" dirty="0"/>
              <a:t>NPM</a:t>
            </a:r>
            <a:r>
              <a:rPr lang="es-ES" sz="2000" dirty="0"/>
              <a:t>).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006C6BE-403D-DF33-C82F-B8FBE4788B9B}"/>
              </a:ext>
            </a:extLst>
          </p:cNvPr>
          <p:cNvSpPr txBox="1"/>
          <p:nvPr/>
        </p:nvSpPr>
        <p:spPr>
          <a:xfrm>
            <a:off x="5488115" y="1784591"/>
            <a:ext cx="444912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Con Node.js podemos realizar aplicaciones </a:t>
            </a:r>
            <a:r>
              <a:rPr lang="es-ES" sz="2000" dirty="0" err="1"/>
              <a:t>front-end</a:t>
            </a:r>
            <a:r>
              <a:rPr lang="es-ES" sz="2000" dirty="0"/>
              <a:t>, back-</a:t>
            </a:r>
            <a:r>
              <a:rPr lang="es-ES" sz="2000" dirty="0" err="1"/>
              <a:t>end</a:t>
            </a:r>
            <a:r>
              <a:rPr lang="es-ES" sz="2000" dirty="0"/>
              <a:t> y móviles con un mismo lenguaje.  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113E1FC0-1298-E076-D491-2FE97564B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2578" y="3534991"/>
            <a:ext cx="3854664" cy="2167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588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Entendiendo el Event Loop - Aprendiendo Node.JS">
            <a:extLst>
              <a:ext uri="{FF2B5EF4-FFF2-40B4-BE49-F238E27FC236}">
                <a16:creationId xmlns:a16="http://schemas.microsoft.com/office/drawing/2014/main" id="{BF8B2D91-6A98-F411-BFBA-675DDD667E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198" y="1143000"/>
            <a:ext cx="10004512" cy="5546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45DBC269-E321-406C-4DAD-4B6D4A6308F1}"/>
              </a:ext>
            </a:extLst>
          </p:cNvPr>
          <p:cNvSpPr txBox="1"/>
          <p:nvPr/>
        </p:nvSpPr>
        <p:spPr>
          <a:xfrm>
            <a:off x="0" y="177582"/>
            <a:ext cx="105841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b="1" dirty="0">
                <a:solidFill>
                  <a:srgbClr val="418B3D"/>
                </a:solidFill>
              </a:rPr>
              <a:t>Arquitectura de </a:t>
            </a:r>
            <a:r>
              <a:rPr lang="es-ES" sz="3600" b="1" dirty="0">
                <a:solidFill>
                  <a:schemeClr val="tx1"/>
                </a:solidFill>
              </a:rPr>
              <a:t>Node.js</a:t>
            </a:r>
          </a:p>
        </p:txBody>
      </p:sp>
    </p:spTree>
    <p:extLst>
      <p:ext uri="{BB962C8B-B14F-4D97-AF65-F5344CB8AC3E}">
        <p14:creationId xmlns:p14="http://schemas.microsoft.com/office/powerpoint/2010/main" val="2647804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16030-27C5-6043-DFF9-35FC26FE6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AB76EEC-0934-5DD8-E486-550F80225E71}"/>
              </a:ext>
            </a:extLst>
          </p:cNvPr>
          <p:cNvSpPr txBox="1"/>
          <p:nvPr/>
        </p:nvSpPr>
        <p:spPr>
          <a:xfrm>
            <a:off x="0" y="177582"/>
            <a:ext cx="105841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b="1" dirty="0">
                <a:solidFill>
                  <a:srgbClr val="418B3D"/>
                </a:solidFill>
              </a:rPr>
              <a:t>Programación </a:t>
            </a:r>
            <a:r>
              <a:rPr lang="es-ES" sz="3600" b="1" dirty="0">
                <a:solidFill>
                  <a:schemeClr val="tx1"/>
                </a:solidFill>
              </a:rPr>
              <a:t>síncrona y Asíncrona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5975297C-D35C-862C-4795-466CB84D62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39"/>
          <a:stretch/>
        </p:blipFill>
        <p:spPr bwMode="auto">
          <a:xfrm>
            <a:off x="615354" y="1014608"/>
            <a:ext cx="9405016" cy="5139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2583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24A79-6EF3-5FD4-86AE-BF4883461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9212DEE-142F-5166-8ABC-3164AC88C76B}"/>
              </a:ext>
            </a:extLst>
          </p:cNvPr>
          <p:cNvSpPr txBox="1"/>
          <p:nvPr/>
        </p:nvSpPr>
        <p:spPr>
          <a:xfrm>
            <a:off x="600075" y="2028439"/>
            <a:ext cx="2954656" cy="4651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s-ES" sz="2000" dirty="0" err="1"/>
              <a:t>GoDaddy</a:t>
            </a:r>
            <a:endParaRPr lang="es-ES" sz="2000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s-ES" sz="2000" dirty="0"/>
              <a:t>Microsoft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s-ES" sz="2000" dirty="0"/>
              <a:t>eBay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s-ES" sz="2000" dirty="0"/>
              <a:t>General Electric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s-ES" sz="2000" dirty="0"/>
              <a:t>PayPal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s-ES" sz="2000" dirty="0"/>
              <a:t>Uber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s-ES" sz="2000" dirty="0"/>
              <a:t>NASA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s-ES" sz="2000" dirty="0"/>
              <a:t>Netflix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s-ES" sz="2000" dirty="0"/>
              <a:t>LinkedIn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s-ES" sz="2000" dirty="0"/>
              <a:t>Medium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1BD1E17-A4D5-8022-BC00-308C0460BB0C}"/>
              </a:ext>
            </a:extLst>
          </p:cNvPr>
          <p:cNvSpPr txBox="1"/>
          <p:nvPr/>
        </p:nvSpPr>
        <p:spPr>
          <a:xfrm>
            <a:off x="0" y="177582"/>
            <a:ext cx="105841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b="1" dirty="0">
                <a:solidFill>
                  <a:srgbClr val="418B3D"/>
                </a:solidFill>
              </a:rPr>
              <a:t>¿Quiénes usan </a:t>
            </a:r>
            <a:r>
              <a:rPr lang="es-ES" sz="3600" b="1" dirty="0">
                <a:solidFill>
                  <a:schemeClr val="tx1"/>
                </a:solidFill>
              </a:rPr>
              <a:t>Node.js</a:t>
            </a:r>
            <a:r>
              <a:rPr lang="es-ES" sz="3600" b="1" dirty="0">
                <a:solidFill>
                  <a:srgbClr val="418B3D"/>
                </a:solidFill>
              </a:rPr>
              <a:t>?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07A5FEC-3E97-28A2-2B32-19D248ACB7DD}"/>
              </a:ext>
            </a:extLst>
          </p:cNvPr>
          <p:cNvSpPr txBox="1"/>
          <p:nvPr/>
        </p:nvSpPr>
        <p:spPr>
          <a:xfrm>
            <a:off x="408623" y="934626"/>
            <a:ext cx="9564052" cy="95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2000" dirty="0">
                <a:solidFill>
                  <a:schemeClr val="tx1"/>
                </a:solidFill>
              </a:rPr>
              <a:t>Cómo debes imaginar, casi todas las marcas más importantes del mercado utilizan Node.js. A continuación tienes algunos ejemplos: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01F73AA-17FD-D64F-DB02-37F4C2380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561" y="3800405"/>
            <a:ext cx="1601152" cy="1601152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DC04114A-F68C-0BB2-C511-9A10F821A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6424" y="2862739"/>
            <a:ext cx="1315402" cy="131540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E8ADFCD-C670-9BC5-76E9-77A6402282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0713" y="4848002"/>
            <a:ext cx="1315402" cy="131540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F908D1F-0677-CF02-77AB-087EBB74C5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5671" y="4021120"/>
            <a:ext cx="1653763" cy="165376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1CE84E1-ECA1-DDEE-3BCD-111170217E5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1844" r="21555"/>
          <a:stretch/>
        </p:blipFill>
        <p:spPr>
          <a:xfrm>
            <a:off x="7206143" y="2183206"/>
            <a:ext cx="2431732" cy="171849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194F0F6-A182-5F3E-8830-EEEA8A24D4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6199" y="2284497"/>
            <a:ext cx="1515908" cy="151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736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336F5CE-5803-DBD5-3FEB-CFB1E1A67C74}"/>
              </a:ext>
            </a:extLst>
          </p:cNvPr>
          <p:cNvSpPr txBox="1"/>
          <p:nvPr/>
        </p:nvSpPr>
        <p:spPr>
          <a:xfrm>
            <a:off x="0" y="177582"/>
            <a:ext cx="105841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b="1" dirty="0">
                <a:solidFill>
                  <a:srgbClr val="418B3D"/>
                </a:solidFill>
              </a:rPr>
              <a:t>Ventajas &amp; Desventajas de </a:t>
            </a:r>
            <a:r>
              <a:rPr lang="es-ES" sz="3600" b="1" dirty="0">
                <a:solidFill>
                  <a:schemeClr val="tx1"/>
                </a:solidFill>
              </a:rPr>
              <a:t>Node.js</a:t>
            </a:r>
            <a:endParaRPr lang="es-ES" sz="3600" b="1" dirty="0">
              <a:solidFill>
                <a:srgbClr val="418B3D"/>
              </a:solidFill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8AAD62AC-C08D-D0B8-D2B1-482A424F51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3947461"/>
              </p:ext>
            </p:extLst>
          </p:nvPr>
        </p:nvGraphicFramePr>
        <p:xfrm>
          <a:off x="342900" y="1108287"/>
          <a:ext cx="4902200" cy="5426287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902200">
                  <a:extLst>
                    <a:ext uri="{9D8B030D-6E8A-4147-A177-3AD203B41FA5}">
                      <a16:colId xmlns:a16="http://schemas.microsoft.com/office/drawing/2014/main" val="266203972"/>
                    </a:ext>
                  </a:extLst>
                </a:gridCol>
              </a:tblGrid>
              <a:tr h="519007">
                <a:tc>
                  <a:txBody>
                    <a:bodyPr/>
                    <a:lstStyle/>
                    <a:p>
                      <a:pPr algn="ctr"/>
                      <a:r>
                        <a:rPr lang="es-PE" dirty="0"/>
                        <a:t>VENTAJAS</a:t>
                      </a:r>
                      <a:endParaRPr lang="es-E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7872455"/>
                  </a:ext>
                </a:extLst>
              </a:tr>
              <a:tr h="519007">
                <a:tc>
                  <a:txBody>
                    <a:bodyPr/>
                    <a:lstStyle/>
                    <a:p>
                      <a:pPr algn="just"/>
                      <a:r>
                        <a:rPr lang="es-ES" sz="1600" b="1" dirty="0"/>
                        <a:t>Eficiencia y escalabilidad: </a:t>
                      </a:r>
                      <a:r>
                        <a:rPr lang="es-ES" sz="1600" dirty="0"/>
                        <a:t>Utiliza un modelo de operaciones de entrada/salida sin bloqueo y basado en eventos, lo que permite manejar una alta concurrencia y un gran número de solicitudes simultáneas de manera eficiente. Esto lo hace ideal para aplicaciones web en tiempo real y de alto rendimiento.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604754"/>
                  </a:ext>
                </a:extLst>
              </a:tr>
              <a:tr h="519007">
                <a:tc>
                  <a:txBody>
                    <a:bodyPr/>
                    <a:lstStyle/>
                    <a:p>
                      <a:pPr algn="just"/>
                      <a:r>
                        <a:rPr lang="es-ES" sz="1600" b="1" dirty="0"/>
                        <a:t>Unificación del lenguaje: </a:t>
                      </a:r>
                      <a:r>
                        <a:rPr lang="es-ES" sz="1600" dirty="0"/>
                        <a:t>Tanto en el servidor como en el cliente (con herramientas como </a:t>
                      </a:r>
                      <a:r>
                        <a:rPr lang="es-ES" sz="1600" dirty="0" err="1"/>
                        <a:t>React</a:t>
                      </a:r>
                      <a:r>
                        <a:rPr lang="es-ES" sz="1600" dirty="0"/>
                        <a:t> o Angular), se puede escribir todo el código en JavaScript. Esto facilita la comunicación y el intercambio de código entre el </a:t>
                      </a:r>
                      <a:r>
                        <a:rPr lang="es-ES" sz="1600" dirty="0" err="1"/>
                        <a:t>frontend</a:t>
                      </a:r>
                      <a:r>
                        <a:rPr lang="es-ES" sz="1600" dirty="0"/>
                        <a:t> y el </a:t>
                      </a:r>
                      <a:r>
                        <a:rPr lang="es-ES" sz="1600" dirty="0" err="1"/>
                        <a:t>backend</a:t>
                      </a:r>
                      <a:r>
                        <a:rPr lang="es-ES" sz="1600" dirty="0"/>
                        <a:t>, lo que puede mejorar la productividad del equipo de desarrollo.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1187828"/>
                  </a:ext>
                </a:extLst>
              </a:tr>
              <a:tr h="519007">
                <a:tc>
                  <a:txBody>
                    <a:bodyPr/>
                    <a:lstStyle/>
                    <a:p>
                      <a:pPr algn="just"/>
                      <a:r>
                        <a:rPr lang="es-ES" sz="1600" b="1" dirty="0"/>
                        <a:t>Amplio ecosistema de módulos: </a:t>
                      </a:r>
                      <a:r>
                        <a:rPr lang="es-ES" sz="1600" dirty="0"/>
                        <a:t>Cuenta con un gran repositorio de paquetes y módulos disponibles a través de </a:t>
                      </a:r>
                      <a:r>
                        <a:rPr lang="es-ES" sz="1600" b="1" dirty="0" err="1"/>
                        <a:t>npm</a:t>
                      </a:r>
                      <a:r>
                        <a:rPr lang="es-ES" sz="1600" dirty="0"/>
                        <a:t>. Esto facilita la reutilización de código y acelera el desarrollo de aplicaciones, ya que no es necesario crear todo desde cero.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8026714"/>
                  </a:ext>
                </a:extLst>
              </a:tr>
            </a:tbl>
          </a:graphicData>
        </a:graphic>
      </p:graphicFrame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38343601-6DE5-587C-8AE8-50F25F444E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6923924"/>
              </p:ext>
            </p:extLst>
          </p:nvPr>
        </p:nvGraphicFramePr>
        <p:xfrm>
          <a:off x="5245100" y="1108287"/>
          <a:ext cx="5087620" cy="542628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087620">
                  <a:extLst>
                    <a:ext uri="{9D8B030D-6E8A-4147-A177-3AD203B41FA5}">
                      <a16:colId xmlns:a16="http://schemas.microsoft.com/office/drawing/2014/main" val="2859349594"/>
                    </a:ext>
                  </a:extLst>
                </a:gridCol>
              </a:tblGrid>
              <a:tr h="543427">
                <a:tc>
                  <a:txBody>
                    <a:bodyPr/>
                    <a:lstStyle/>
                    <a:p>
                      <a:pPr algn="ctr"/>
                      <a:r>
                        <a:rPr lang="es-PE" dirty="0"/>
                        <a:t>DESVENTAJAS</a:t>
                      </a:r>
                      <a:endParaRPr lang="es-E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7872455"/>
                  </a:ext>
                </a:extLst>
              </a:tr>
              <a:tr h="1627620">
                <a:tc>
                  <a:txBody>
                    <a:bodyPr/>
                    <a:lstStyle/>
                    <a:p>
                      <a:pPr algn="just"/>
                      <a:r>
                        <a:rPr lang="es-ES" sz="1600" b="1" dirty="0"/>
                        <a:t>Uso intensivo de CPU: </a:t>
                      </a:r>
                      <a:r>
                        <a:rPr lang="es-ES" sz="1600" dirty="0"/>
                        <a:t>Puede no ser la mejor opción si tu aplicación realiza operaciones intensivas en el uso de la CPU, como procesamiento de imágenes o cálculos complejos. Dado que Node.js utiliza un solo hilo de ejecución, estas operaciones pueden bloquear el rendimiento general de la aplicación.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604754"/>
                  </a:ext>
                </a:extLst>
              </a:tr>
              <a:tr h="1882933">
                <a:tc>
                  <a:txBody>
                    <a:bodyPr/>
                    <a:lstStyle/>
                    <a:p>
                      <a:pPr algn="just"/>
                      <a:r>
                        <a:rPr lang="es-ES" sz="1600" b="1" dirty="0"/>
                        <a:t>Madurez de algunas bibliotecas: </a:t>
                      </a:r>
                      <a:r>
                        <a:rPr lang="es-ES" sz="1600" dirty="0"/>
                        <a:t>Aunque tiene un ecosistema de módulos y paquetes muy amplio, algunas bibliotecas pueden ser menos maduras o estables en comparación con otros lenguajes o </a:t>
                      </a:r>
                      <a:r>
                        <a:rPr lang="es-ES" sz="1600" dirty="0" err="1"/>
                        <a:t>frameworks</a:t>
                      </a:r>
                      <a:r>
                        <a:rPr lang="es-ES" sz="1600" dirty="0"/>
                        <a:t> más establecidos. Es importante investigar y evaluar las bibliotecas antes de utilizarlas en un proyecto.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1187828"/>
                  </a:ext>
                </a:extLst>
              </a:tr>
              <a:tr h="1372307">
                <a:tc>
                  <a:txBody>
                    <a:bodyPr/>
                    <a:lstStyle/>
                    <a:p>
                      <a:pPr algn="just"/>
                      <a:r>
                        <a:rPr lang="es-ES" sz="1600" b="1" dirty="0"/>
                        <a:t>Curva de aprendizaje: </a:t>
                      </a:r>
                      <a:r>
                        <a:rPr lang="es-ES" sz="1600" dirty="0"/>
                        <a:t>Si el equipo de desarrollo no está familiarizado con JavaScript o con el paradigma de programación asíncrona, puede haber una curva de aprendizaje para comprender y aprovechar completamente las características de </a:t>
                      </a:r>
                      <a:r>
                        <a:rPr lang="es-ES" sz="1600" dirty="0" err="1"/>
                        <a:t>Nodejs</a:t>
                      </a:r>
                      <a:r>
                        <a:rPr lang="es-ES" sz="16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80267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78109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5">
            <a:extLst>
              <a:ext uri="{FF2B5EF4-FFF2-40B4-BE49-F238E27FC236}">
                <a16:creationId xmlns:a16="http://schemas.microsoft.com/office/drawing/2014/main" id="{AD0C946E-9383-F369-F7A3-C24FA503F898}"/>
              </a:ext>
            </a:extLst>
          </p:cNvPr>
          <p:cNvSpPr txBox="1"/>
          <p:nvPr/>
        </p:nvSpPr>
        <p:spPr>
          <a:xfrm>
            <a:off x="3973536" y="1387303"/>
            <a:ext cx="6770664" cy="154593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715645" algn="just">
              <a:lnSpc>
                <a:spcPct val="100000"/>
              </a:lnSpc>
              <a:spcBef>
                <a:spcPts val="100"/>
              </a:spcBef>
              <a:tabLst>
                <a:tab pos="354965" algn="l"/>
                <a:tab pos="355600" algn="l"/>
              </a:tabLst>
            </a:pPr>
            <a:r>
              <a:rPr lang="es-ES" sz="2000" spc="-5" dirty="0">
                <a:cs typeface="Calibri"/>
              </a:rPr>
              <a:t>Empezó usando Node.js en 2012</a:t>
            </a:r>
            <a:r>
              <a:rPr lang="es-ES" sz="2000" spc="-10" dirty="0">
                <a:cs typeface="Calibri"/>
              </a:rPr>
              <a:t> para dar a los usuarios de móviles una moderna experiencia front end. Haciendo uso de la plataforma JavaScript, fueron capaces de integrar de forma rápida y sencilla sus APIs existentes. </a:t>
            </a:r>
            <a:endParaRPr lang="es-ES" sz="2000" dirty="0">
              <a:cs typeface="Calibri"/>
            </a:endParaRPr>
          </a:p>
        </p:txBody>
      </p:sp>
      <p:sp>
        <p:nvSpPr>
          <p:cNvPr id="5" name="object 41">
            <a:extLst>
              <a:ext uri="{FF2B5EF4-FFF2-40B4-BE49-F238E27FC236}">
                <a16:creationId xmlns:a16="http://schemas.microsoft.com/office/drawing/2014/main" id="{5C7F0CAA-D416-AA2A-132F-4CFDFDB8C20B}"/>
              </a:ext>
            </a:extLst>
          </p:cNvPr>
          <p:cNvSpPr/>
          <p:nvPr/>
        </p:nvSpPr>
        <p:spPr>
          <a:xfrm>
            <a:off x="647406" y="2047918"/>
            <a:ext cx="2857500" cy="6751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39">
            <a:extLst>
              <a:ext uri="{FF2B5EF4-FFF2-40B4-BE49-F238E27FC236}">
                <a16:creationId xmlns:a16="http://schemas.microsoft.com/office/drawing/2014/main" id="{21D3171F-F2EE-C09C-809F-137D89E754A5}"/>
              </a:ext>
            </a:extLst>
          </p:cNvPr>
          <p:cNvSpPr/>
          <p:nvPr/>
        </p:nvSpPr>
        <p:spPr>
          <a:xfrm>
            <a:off x="647406" y="4688885"/>
            <a:ext cx="2857500" cy="5440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8B87F59F-21DC-A0C7-F792-8542DC6CE936}"/>
              </a:ext>
            </a:extLst>
          </p:cNvPr>
          <p:cNvSpPr txBox="1"/>
          <p:nvPr/>
        </p:nvSpPr>
        <p:spPr>
          <a:xfrm>
            <a:off x="3973536" y="4034063"/>
            <a:ext cx="6770664" cy="1853713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715645" algn="just">
              <a:lnSpc>
                <a:spcPct val="100000"/>
              </a:lnSpc>
              <a:spcBef>
                <a:spcPts val="100"/>
              </a:spcBef>
              <a:tabLst>
                <a:tab pos="354965" algn="l"/>
                <a:tab pos="355600" algn="l"/>
              </a:tabLst>
            </a:pPr>
            <a:r>
              <a:rPr lang="es-ES" sz="2000" spc="-5" dirty="0">
                <a:cs typeface="Calibri"/>
              </a:rPr>
              <a:t>Empezó usando Node.js en 2010.</a:t>
            </a:r>
            <a:r>
              <a:rPr lang="es-ES" sz="2000" spc="-10" dirty="0">
                <a:cs typeface="Calibri"/>
              </a:rPr>
              <a:t> Al principio lo utilizaban para pequeñas tareas como la subida de archivos y en la actualidad usan Node para controlar casi 2 millones de peticiones por minuto. Han notado un considerable incremento en la velocidad y simplificación del proceso de desarrollo.</a:t>
            </a:r>
            <a:endParaRPr lang="es-ES" sz="2000" dirty="0">
              <a:cs typeface="Calibri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87ECC80-2188-2810-960C-26845AC1E7F2}"/>
              </a:ext>
            </a:extLst>
          </p:cNvPr>
          <p:cNvSpPr txBox="1"/>
          <p:nvPr/>
        </p:nvSpPr>
        <p:spPr>
          <a:xfrm>
            <a:off x="0" y="177582"/>
            <a:ext cx="105841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b="1" dirty="0">
                <a:solidFill>
                  <a:srgbClr val="418B3D"/>
                </a:solidFill>
              </a:rPr>
              <a:t>Casos de éxito de </a:t>
            </a:r>
            <a:r>
              <a:rPr lang="es-ES" sz="3600" b="1" dirty="0">
                <a:solidFill>
                  <a:schemeClr val="tx1"/>
                </a:solidFill>
              </a:rPr>
              <a:t>Node.js</a:t>
            </a:r>
            <a:endParaRPr lang="es-ES" sz="3600" b="1" dirty="0">
              <a:solidFill>
                <a:srgbClr val="418B3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5078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B2297F35-D932-8770-05EE-CD0D12F38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007" y="1220427"/>
            <a:ext cx="4861083" cy="1798320"/>
          </a:xfrm>
          <a:prstGeom prst="rect">
            <a:avLst/>
          </a:prstGeom>
        </p:spPr>
      </p:pic>
      <p:pic>
        <p:nvPicPr>
          <p:cNvPr id="1026" name="Picture 2" descr="Understanding the MERN Stack for Full-Stack Development | by Ilolo Izu |  Medium">
            <a:extLst>
              <a:ext uri="{FF2B5EF4-FFF2-40B4-BE49-F238E27FC236}">
                <a16:creationId xmlns:a16="http://schemas.microsoft.com/office/drawing/2014/main" id="{779FCC8E-4ECB-2073-A465-AD2789D60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5327" y="916283"/>
            <a:ext cx="4604385" cy="2512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pen source MEVN Stack Blog template">
            <a:extLst>
              <a:ext uri="{FF2B5EF4-FFF2-40B4-BE49-F238E27FC236}">
                <a16:creationId xmlns:a16="http://schemas.microsoft.com/office/drawing/2014/main" id="{AAB2E594-0745-4B25-8044-FA342424FB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907" y="4568181"/>
            <a:ext cx="3669031" cy="1696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3DDE69B0-4DF2-CCCC-1966-6C2A703CA42F}"/>
              </a:ext>
            </a:extLst>
          </p:cNvPr>
          <p:cNvSpPr txBox="1"/>
          <p:nvPr/>
        </p:nvSpPr>
        <p:spPr>
          <a:xfrm>
            <a:off x="0" y="177582"/>
            <a:ext cx="105841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b="1" dirty="0">
                <a:solidFill>
                  <a:srgbClr val="418B3D"/>
                </a:solidFill>
              </a:rPr>
              <a:t>Stack con </a:t>
            </a:r>
            <a:r>
              <a:rPr lang="es-ES" sz="3600" b="1" dirty="0">
                <a:solidFill>
                  <a:schemeClr val="tx1"/>
                </a:solidFill>
              </a:rPr>
              <a:t>Node.js</a:t>
            </a:r>
            <a:endParaRPr lang="es-ES" sz="3600" b="1" dirty="0">
              <a:solidFill>
                <a:srgbClr val="418B3D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C25592-B8B7-86AE-4E20-AE7EA5A319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90" y="3752268"/>
            <a:ext cx="5025434" cy="2512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90292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4AF0E4F-4EDD-EB4E-F93F-F8F570C8FA65}"/>
              </a:ext>
            </a:extLst>
          </p:cNvPr>
          <p:cNvSpPr txBox="1"/>
          <p:nvPr/>
        </p:nvSpPr>
        <p:spPr>
          <a:xfrm>
            <a:off x="0" y="177582"/>
            <a:ext cx="105841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b="1" dirty="0">
                <a:solidFill>
                  <a:srgbClr val="418B3D"/>
                </a:solidFill>
              </a:rPr>
              <a:t>Arquitectura </a:t>
            </a:r>
            <a:r>
              <a:rPr lang="es-ES" sz="3600" b="1" dirty="0">
                <a:solidFill>
                  <a:schemeClr val="tx1"/>
                </a:solidFill>
              </a:rPr>
              <a:t>MENN</a:t>
            </a:r>
            <a:endParaRPr lang="es-ES" sz="3600" b="1" dirty="0">
              <a:solidFill>
                <a:srgbClr val="418B3D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35105BD-3B53-CD24-3E22-0D3A40E85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279233"/>
            <a:ext cx="2743200" cy="444627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86897B0-1163-6C7A-FCB5-DD5064FE0FE4}"/>
              </a:ext>
            </a:extLst>
          </p:cNvPr>
          <p:cNvSpPr txBox="1"/>
          <p:nvPr/>
        </p:nvSpPr>
        <p:spPr>
          <a:xfrm>
            <a:off x="608076" y="1974177"/>
            <a:ext cx="6268212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PE" sz="1600" b="1" dirty="0"/>
              <a:t>Flujo de Datos</a:t>
            </a:r>
          </a:p>
          <a:p>
            <a:pPr>
              <a:buNone/>
            </a:pPr>
            <a:endParaRPr lang="es-PE" sz="1600" b="1" dirty="0"/>
          </a:p>
          <a:p>
            <a:r>
              <a:rPr lang="es-PE" sz="1600" dirty="0"/>
              <a:t>1️⃣ </a:t>
            </a:r>
            <a:r>
              <a:rPr lang="es-PE" sz="1600" b="1" dirty="0"/>
              <a:t>El Cliente (Next.js - React)</a:t>
            </a:r>
            <a:r>
              <a:rPr lang="es-PE" sz="1600" dirty="0"/>
              <a:t>: Envía peticiones HTTP (fetch/Axios) al backend.</a:t>
            </a:r>
          </a:p>
          <a:p>
            <a:br>
              <a:rPr lang="es-PE" sz="1600" dirty="0"/>
            </a:br>
            <a:r>
              <a:rPr lang="es-PE" sz="1600" dirty="0"/>
              <a:t>2️⃣ </a:t>
            </a:r>
            <a:r>
              <a:rPr lang="es-PE" sz="1600" b="1" dirty="0"/>
              <a:t>Servidor Backend (Express + Node.js)</a:t>
            </a:r>
            <a:r>
              <a:rPr lang="es-PE" sz="1600" dirty="0"/>
              <a:t>: Procesa las peticiones y se comunica con MongoDB.</a:t>
            </a:r>
          </a:p>
          <a:p>
            <a:br>
              <a:rPr lang="es-PE" sz="1600" dirty="0"/>
            </a:br>
            <a:r>
              <a:rPr lang="es-PE" sz="1600" dirty="0"/>
              <a:t>3️⃣ </a:t>
            </a:r>
            <a:r>
              <a:rPr lang="es-PE" sz="1600" b="1" dirty="0"/>
              <a:t>MongoDB (Base de datos)</a:t>
            </a:r>
            <a:r>
              <a:rPr lang="es-PE" sz="1600" dirty="0"/>
              <a:t>: Almacena y recupera datos para el backend.</a:t>
            </a:r>
          </a:p>
          <a:p>
            <a:br>
              <a:rPr lang="es-PE" sz="1600" dirty="0"/>
            </a:br>
            <a:r>
              <a:rPr lang="es-PE" sz="1600" dirty="0"/>
              <a:t>4️⃣ </a:t>
            </a:r>
            <a:r>
              <a:rPr lang="es-PE" sz="1600" b="1" dirty="0"/>
              <a:t>Respuesta al Cliente</a:t>
            </a:r>
            <a:r>
              <a:rPr lang="es-PE" sz="1600" dirty="0"/>
              <a:t>: Express devuelve la información a Next.js para renderizar la UI.</a:t>
            </a:r>
          </a:p>
        </p:txBody>
      </p:sp>
    </p:spTree>
    <p:extLst>
      <p:ext uri="{BB962C8B-B14F-4D97-AF65-F5344CB8AC3E}">
        <p14:creationId xmlns:p14="http://schemas.microsoft.com/office/powerpoint/2010/main" val="29403039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bcaf815469_0_0"/>
          <p:cNvSpPr txBox="1">
            <a:spLocks noGrp="1"/>
          </p:cNvSpPr>
          <p:nvPr>
            <p:ph type="title"/>
          </p:nvPr>
        </p:nvSpPr>
        <p:spPr>
          <a:xfrm>
            <a:off x="0" y="2879725"/>
            <a:ext cx="1059561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7620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s-ES" dirty="0">
                <a:solidFill>
                  <a:srgbClr val="418B3D"/>
                </a:solidFill>
              </a:rPr>
              <a:t>Configuración del Entorno de ejecución </a:t>
            </a:r>
            <a:r>
              <a:rPr lang="es-ES" dirty="0"/>
              <a:t>Node.js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19AA0FD2-993A-CAAF-13CF-8EC935B182C6}"/>
              </a:ext>
            </a:extLst>
          </p:cNvPr>
          <p:cNvSpPr txBox="1"/>
          <p:nvPr/>
        </p:nvSpPr>
        <p:spPr>
          <a:xfrm>
            <a:off x="0" y="177582"/>
            <a:ext cx="105841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b="1" dirty="0">
                <a:solidFill>
                  <a:srgbClr val="418B3D"/>
                </a:solidFill>
              </a:rPr>
              <a:t>Descarga de instalador </a:t>
            </a:r>
            <a:r>
              <a:rPr lang="es-ES" sz="3600" b="1" dirty="0">
                <a:solidFill>
                  <a:schemeClr val="tx1"/>
                </a:solidFill>
              </a:rPr>
              <a:t>Node.js</a:t>
            </a:r>
            <a:endParaRPr lang="es-ES" sz="3600" b="1" dirty="0">
              <a:solidFill>
                <a:srgbClr val="418B3D"/>
              </a:solidFill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0D12551-A83E-5AF0-419C-301B639AFF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866"/>
          <a:stretch>
            <a:fillRect/>
          </a:stretch>
        </p:blipFill>
        <p:spPr>
          <a:xfrm>
            <a:off x="245030" y="1151350"/>
            <a:ext cx="10094119" cy="5386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5043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7A2C71A-D5E5-E668-0366-200CEE05B5CF}"/>
              </a:ext>
            </a:extLst>
          </p:cNvPr>
          <p:cNvSpPr txBox="1"/>
          <p:nvPr/>
        </p:nvSpPr>
        <p:spPr>
          <a:xfrm>
            <a:off x="0" y="177582"/>
            <a:ext cx="105841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b="1" dirty="0">
                <a:solidFill>
                  <a:srgbClr val="418B3D"/>
                </a:solidFill>
              </a:rPr>
              <a:t>Acerca de </a:t>
            </a:r>
            <a:r>
              <a:rPr lang="es-ES" sz="3600" b="1" dirty="0">
                <a:solidFill>
                  <a:schemeClr val="tx1"/>
                </a:solidFill>
              </a:rPr>
              <a:t>Node.js</a:t>
            </a:r>
            <a:endParaRPr lang="es-ES" sz="3600" b="1" dirty="0">
              <a:solidFill>
                <a:srgbClr val="418B3D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EF220E6-76EB-5B77-6583-3918C251A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881" y="1121032"/>
            <a:ext cx="10196299" cy="4615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6379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E336F899-385F-3A97-B13D-FF16D6AC7A7C}"/>
              </a:ext>
            </a:extLst>
          </p:cNvPr>
          <p:cNvSpPr txBox="1"/>
          <p:nvPr/>
        </p:nvSpPr>
        <p:spPr>
          <a:xfrm>
            <a:off x="0" y="177582"/>
            <a:ext cx="105841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b="1" dirty="0">
                <a:solidFill>
                  <a:srgbClr val="418B3D"/>
                </a:solidFill>
              </a:rPr>
              <a:t>Lanzamientos </a:t>
            </a:r>
            <a:r>
              <a:rPr lang="es-ES" sz="3600" b="1" dirty="0">
                <a:solidFill>
                  <a:schemeClr val="tx1"/>
                </a:solidFill>
              </a:rPr>
              <a:t>Anteriores</a:t>
            </a:r>
            <a:endParaRPr lang="es-ES" sz="3600" b="1" dirty="0">
              <a:solidFill>
                <a:srgbClr val="418B3D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0F12E63-33B4-9BC7-E45C-83FCC5F7B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9" y="1109893"/>
            <a:ext cx="10116288" cy="5108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4059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bba47f0c8b_0_22"/>
          <p:cNvSpPr txBox="1">
            <a:spLocks noGrp="1"/>
          </p:cNvSpPr>
          <p:nvPr>
            <p:ph type="title"/>
          </p:nvPr>
        </p:nvSpPr>
        <p:spPr>
          <a:xfrm>
            <a:off x="304720" y="146767"/>
            <a:ext cx="9759000" cy="66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s-PE" sz="4000" dirty="0"/>
              <a:t>Conclusiones</a:t>
            </a:r>
            <a:endParaRPr sz="40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BA62E37-3C92-AD52-C07E-16051F52842A}"/>
              </a:ext>
            </a:extLst>
          </p:cNvPr>
          <p:cNvSpPr txBox="1"/>
          <p:nvPr/>
        </p:nvSpPr>
        <p:spPr>
          <a:xfrm>
            <a:off x="697674" y="963530"/>
            <a:ext cx="9496673" cy="4862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900" dirty="0"/>
              <a:t>En síntesis, Node.js es un popular entorno de ejecución que puede utilizarse para crear aplicaciones a gran escala que necesiten soportar múltiples peticiones concurrentes. La E/S no bloqueante de un solo hilo lo convierte en una excelente opción para aplicaciones en tiempo real y de flujo de datos.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sz="190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900" dirty="0"/>
              <a:t>Node.js cuenta con una comunidad masiva de desarrolladores activos y con el mayor repositorio de paquetes de código abierto del mundo, NPM, que actualmente contiene más de un millón de paquetes.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sz="190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900" dirty="0"/>
              <a:t>Es fácil empezar con Node.js. Hemos cubierto cómo instalar y crear un servidor en Node.js.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bba47f0c8b_0_17"/>
          <p:cNvSpPr txBox="1">
            <a:spLocks noGrp="1"/>
          </p:cNvSpPr>
          <p:nvPr>
            <p:ph type="title"/>
          </p:nvPr>
        </p:nvSpPr>
        <p:spPr>
          <a:xfrm>
            <a:off x="326572" y="365125"/>
            <a:ext cx="1024708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s-PE" sz="4000"/>
              <a:t>Referencias Bibliográficas</a:t>
            </a:r>
            <a:endParaRPr sz="400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08EF763-157E-94E2-DCFC-D4978898C706}"/>
              </a:ext>
            </a:extLst>
          </p:cNvPr>
          <p:cNvSpPr txBox="1"/>
          <p:nvPr/>
        </p:nvSpPr>
        <p:spPr>
          <a:xfrm>
            <a:off x="567047" y="2244928"/>
            <a:ext cx="9765673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2000" dirty="0"/>
              <a:t>Node.js. (s.f.). Run JavaScript </a:t>
            </a:r>
            <a:r>
              <a:rPr lang="es-PE" sz="2000" dirty="0" err="1"/>
              <a:t>Everywhere</a:t>
            </a:r>
            <a:r>
              <a:rPr lang="es-PE" sz="2000" dirty="0"/>
              <a:t>. Recuperado de </a:t>
            </a:r>
            <a:r>
              <a:rPr lang="es-PE" sz="2000" dirty="0">
                <a:hlinkClick r:id="rId3"/>
              </a:rPr>
              <a:t>https://nodejs.org/es</a:t>
            </a:r>
            <a:r>
              <a:rPr lang="es-PE" sz="2000" dirty="0"/>
              <a:t> </a:t>
            </a:r>
          </a:p>
          <a:p>
            <a:endParaRPr lang="es-P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2000" dirty="0"/>
              <a:t>Butler, C. (2025). </a:t>
            </a:r>
            <a:r>
              <a:rPr lang="es-PE" sz="2000" dirty="0" err="1"/>
              <a:t>nvm-windows</a:t>
            </a:r>
            <a:r>
              <a:rPr lang="es-PE" sz="2000" dirty="0"/>
              <a:t> </a:t>
            </a:r>
            <a:r>
              <a:rPr lang="es-PE" sz="2000" dirty="0" err="1"/>
              <a:t>Release</a:t>
            </a:r>
            <a:r>
              <a:rPr lang="es-PE" sz="2000" dirty="0"/>
              <a:t> 1.2.2. Recuperado de </a:t>
            </a:r>
            <a:r>
              <a:rPr lang="es-PE" sz="2000" dirty="0">
                <a:hlinkClick r:id="rId4"/>
              </a:rPr>
              <a:t>https://github.com/coreybutler/nvm-windows/releases/tag/1.2.2</a:t>
            </a:r>
            <a:r>
              <a:rPr lang="es-PE" sz="2000" dirty="0"/>
              <a:t> </a:t>
            </a:r>
          </a:p>
          <a:p>
            <a:br>
              <a:rPr lang="es-PE" sz="2000" dirty="0"/>
            </a:br>
            <a:endParaRPr lang="es-ES" sz="3200" dirty="0"/>
          </a:p>
          <a:p>
            <a:endParaRPr lang="es-ES" sz="3200" dirty="0"/>
          </a:p>
          <a:p>
            <a:endParaRPr lang="es-ES" sz="3200" dirty="0"/>
          </a:p>
          <a:p>
            <a:endParaRPr lang="es-E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1203</TotalTime>
  <Words>1023</Words>
  <Application>Microsoft Office PowerPoint</Application>
  <PresentationFormat>Panorámica</PresentationFormat>
  <Paragraphs>77</Paragraphs>
  <Slides>24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8" baseType="lpstr">
      <vt:lpstr>Arial</vt:lpstr>
      <vt:lpstr>Calibri</vt:lpstr>
      <vt:lpstr>Wingdings</vt:lpstr>
      <vt:lpstr>Tema de Office</vt:lpstr>
      <vt:lpstr>Desarrollo de Aplicaciones Web Avanzado</vt:lpstr>
      <vt:lpstr>Capacidades a lograr</vt:lpstr>
      <vt:lpstr>Contenido</vt:lpstr>
      <vt:lpstr>Presentación de PowerPoint</vt:lpstr>
      <vt:lpstr>Introducción a Node.js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Configuración del Entorno de ejecución Node.js</vt:lpstr>
      <vt:lpstr>Presentación de PowerPoint</vt:lpstr>
      <vt:lpstr>Presentación de PowerPoint</vt:lpstr>
      <vt:lpstr>Presentación de PowerPoint</vt:lpstr>
      <vt:lpstr>Conclusiones</vt:lpstr>
      <vt:lpstr>Referencias Bibliográficas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Desarrollo de Aplicaciones Web Avanzado</dc:title>
  <dc:creator>Antonio Lazo de la Vega</dc:creator>
  <cp:lastModifiedBy>Edwin Arevalo Sermeño</cp:lastModifiedBy>
  <cp:revision>48</cp:revision>
  <dcterms:created xsi:type="dcterms:W3CDTF">2024-02-19T13:59:52Z</dcterms:created>
  <dcterms:modified xsi:type="dcterms:W3CDTF">2025-08-23T15:11:11Z</dcterms:modified>
</cp:coreProperties>
</file>