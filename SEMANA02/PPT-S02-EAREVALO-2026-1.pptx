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2" r:id="rId3"/>
    <p:sldId id="311" r:id="rId4"/>
    <p:sldId id="257" r:id="rId5"/>
    <p:sldId id="305" r:id="rId6"/>
    <p:sldId id="266" r:id="rId7"/>
    <p:sldId id="280" r:id="rId8"/>
    <p:sldId id="285" r:id="rId9"/>
    <p:sldId id="281" r:id="rId10"/>
    <p:sldId id="297" r:id="rId11"/>
    <p:sldId id="282" r:id="rId12"/>
    <p:sldId id="296" r:id="rId13"/>
    <p:sldId id="306" r:id="rId14"/>
    <p:sldId id="307" r:id="rId15"/>
    <p:sldId id="308" r:id="rId16"/>
    <p:sldId id="309" r:id="rId17"/>
    <p:sldId id="310" r:id="rId18"/>
    <p:sldId id="286" r:id="rId19"/>
    <p:sldId id="287" r:id="rId20"/>
    <p:sldId id="258" r:id="rId2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0696F-B98F-4834-BBE6-579C0145E1E5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67430-5D7D-4E02-BAB9-97722C2615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379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ba47f0c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g2bba47f0c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3DA53DA-4A23-0432-4202-04471501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ba47f0c8b_0_0:notes">
            <a:extLst>
              <a:ext uri="{FF2B5EF4-FFF2-40B4-BE49-F238E27FC236}">
                <a16:creationId xmlns:a16="http://schemas.microsoft.com/office/drawing/2014/main" id="{5769A8EC-61C1-3C68-0A00-5F2380920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g2bba47f0c8b_0_0:notes">
            <a:extLst>
              <a:ext uri="{FF2B5EF4-FFF2-40B4-BE49-F238E27FC236}">
                <a16:creationId xmlns:a16="http://schemas.microsoft.com/office/drawing/2014/main" id="{F6F6CDD2-FF13-CF84-0779-20CE0A097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1802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bba47f0c8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g2bba47f0c8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67430-5D7D-4E02-BAB9-97722C26154E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5801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F759C93-CC74-496D-8874-3483512D2B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974BE35-4BF7-4183-A46D-C5794F2DA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840708"/>
            <a:ext cx="8948057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38057E-2A51-4C8E-BE2F-9C033076E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01924"/>
            <a:ext cx="894805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1B7B91-9374-4EC1-A719-38FB2901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30229A-F012-4A0F-B1CD-EFAB9D7E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4EA292-3BCE-40EE-97C6-4572EF87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3476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4455A-DF2B-4D92-A503-4DA74D07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547658-8422-4A52-AC24-5274CED9C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DFFA84-4158-48D2-BA97-4361A95E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3F423B-6261-4167-AD2E-A9DBD42AD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99D984-D14B-4819-B86F-DE4A6447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042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73C90-08C2-4840-BD80-2B697C494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2" y="1709738"/>
            <a:ext cx="10072914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72628B-CC82-4D86-95A5-2C94E5CF2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372" y="4589463"/>
            <a:ext cx="1007291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36B8DF-B3AB-4E0A-87B1-7A9F3B6BE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969B15-6F1E-4856-8842-6229656E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D8263-C2FD-4940-8501-B0BE861C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438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7E0DB-9FCC-4090-A021-16468DCD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E55300-B745-4681-AD95-0805F3C2E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572" y="1789339"/>
            <a:ext cx="5130799" cy="4351338"/>
          </a:xfrm>
        </p:spPr>
        <p:txBody>
          <a:bodyPr/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474102-B4ED-4D03-9625-F4537BC3A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0572" y="1789339"/>
            <a:ext cx="4913086" cy="4351338"/>
          </a:xfrm>
        </p:spPr>
        <p:txBody>
          <a:bodyPr/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97B1FB-A4B3-4B21-AC7E-9A6D4F0C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70FC86-9A73-434A-95E9-C87F787D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6D8BE7-381D-4434-AA2C-3FB3D799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5804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7B6B1-38B3-4D3B-ADDD-3E4FAF929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2" y="365125"/>
            <a:ext cx="10210799" cy="1325563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B801E7-C4DE-46C5-BCEF-8540C31F3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629" y="1727088"/>
            <a:ext cx="500017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086507-AF2B-4A78-86CD-8A95D36C7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629" y="2551000"/>
            <a:ext cx="5000171" cy="3684588"/>
          </a:xfrm>
        </p:spPr>
        <p:txBody>
          <a:bodyPr/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92E26A3-52DF-439B-8305-DF977D1F7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06584" y="1727088"/>
            <a:ext cx="50815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3B0CFB-C7F8-44AA-86B7-83F38BEA1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06584" y="2551000"/>
            <a:ext cx="50815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44ED840-3C72-4E42-B327-5658FBBB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BBEE863-62E1-4F97-BB35-7CDA533E3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977E25-3A91-4C70-A350-D06BA577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404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2563A-2725-41A5-B96D-75761049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4C96A1-8F19-48AB-A4D2-0188FC3B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DF4EEA-813F-4896-9DDA-1A3E433D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33E592-9EE8-4690-8631-20A5F8AF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1748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CCA809-6550-4C0F-BA03-21275C8ED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2429C24-2D2B-4338-B776-21B5B606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005C56-7D66-4E1D-BB55-28BE18144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651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4678C-A6DE-4FE5-B28C-4D7183927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2" y="39914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2B6179-F0C0-45D9-AE8A-86031E24D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415" y="99218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D8BE4D-FAF7-4116-BB8E-1ACB5F61A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7372" y="204946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73F4FD-CD9A-4A2F-B2FE-2982E5531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B12EE9-E6BF-4C33-92EE-0803C628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67D4F3-2561-4E15-96FC-F6A1177B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043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C3FA1-7006-4556-A881-81D830FA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2" y="39914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7D72A6-D4BE-4637-8D86-D036E40DC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93759" y="992187"/>
            <a:ext cx="60944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2D8C38-C975-47E9-B4E4-2F99C2E9A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7372" y="204946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E8210-5DC5-436F-A453-8E2B5FE8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6D3265-695F-4BDA-9938-1AAFAFDE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DE84BD-AF49-4465-856F-8D644B0E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2716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32888-42CA-4FFD-BC41-495C4F0B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F3E461-8918-47B7-A543-B9B4B6FC1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CC5411-188B-4839-BD55-F07180078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682ACC-62AD-45D4-B6AF-2821518C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C17D61-7982-430C-87B7-EB96E910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7917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7D2AB-3D97-4AC5-8140-24D31296C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95128" y="365125"/>
            <a:ext cx="2422072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66621A-7A8F-4540-88E3-B7ED680EE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77372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69C6A3-3148-4676-8ED7-A462FD9A9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519A-6E82-41B2-BF15-37C39F0833BC}" type="datetimeFigureOut">
              <a:rPr lang="es-PE" smtClean="0"/>
              <a:t>29/08/2025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D51E46-BA29-43A2-AEAB-CCA7C14A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3F2DF9-BA5C-431F-83B5-443CBDAB4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C6AF1-2EDF-43A6-B3EE-EB96B53CA1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230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1_Imagen con títul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77372" y="399142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>
            <a:spLocks noGrp="1"/>
          </p:cNvSpPr>
          <p:nvPr>
            <p:ph type="pic" idx="2"/>
          </p:nvPr>
        </p:nvSpPr>
        <p:spPr>
          <a:xfrm>
            <a:off x="4493759" y="992187"/>
            <a:ext cx="609441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377372" y="2049462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190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DEEB91C-8684-4278-A9ED-7182CC2FAA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650"/>
          <a:stretch/>
        </p:blipFill>
        <p:spPr>
          <a:xfrm>
            <a:off x="0" y="0"/>
            <a:ext cx="12192000" cy="6852644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13DECC4-A4CC-42F8-B919-F25BB274C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43B053-DD07-40A6-BB74-C26358DCB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10FB4D-BBB6-4FF2-980C-922589DEEA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8519A-6E82-41B2-BF15-37C39F0833BC}" type="datetimeFigureOut">
              <a:rPr lang="es-PE" smtClean="0"/>
              <a:t>29/08/2025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81EF7-7CD4-45DC-ACBE-F4A7553C5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9FC2C1-1E6C-417B-B368-8FA201942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C6AF1-2EDF-43A6-B3EE-EB96B53CA130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2364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diego.coder/servidor-http-con-node-js-3e594f3f2733" TargetMode="External"/><Relationship Id="rId2" Type="http://schemas.openxmlformats.org/officeDocument/2006/relationships/hyperlink" Target="https://developer.mozilla.org/es/docs/Web/HTTP/Guides/Overview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4;p1">
            <a:extLst>
              <a:ext uri="{FF2B5EF4-FFF2-40B4-BE49-F238E27FC236}">
                <a16:creationId xmlns:a16="http://schemas.microsoft.com/office/drawing/2014/main" id="{DE1DB9C4-1438-F48E-AD7A-C310CAB642C2}"/>
              </a:ext>
            </a:extLst>
          </p:cNvPr>
          <p:cNvSpPr txBox="1">
            <a:spLocks/>
          </p:cNvSpPr>
          <p:nvPr/>
        </p:nvSpPr>
        <p:spPr>
          <a:xfrm>
            <a:off x="953585" y="1899280"/>
            <a:ext cx="9608821" cy="14971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SzPts val="4800"/>
            </a:pPr>
            <a:r>
              <a:rPr lang="es-MX" dirty="0"/>
              <a:t>Desarrollo de Aplicaciones Web Avanzado</a:t>
            </a:r>
          </a:p>
        </p:txBody>
      </p:sp>
      <p:sp>
        <p:nvSpPr>
          <p:cNvPr id="7" name="Google Shape;74;p1">
            <a:extLst>
              <a:ext uri="{FF2B5EF4-FFF2-40B4-BE49-F238E27FC236}">
                <a16:creationId xmlns:a16="http://schemas.microsoft.com/office/drawing/2014/main" id="{D3AF1D82-3DAA-2D2D-265E-F25574621FD7}"/>
              </a:ext>
            </a:extLst>
          </p:cNvPr>
          <p:cNvSpPr txBox="1">
            <a:spLocks/>
          </p:cNvSpPr>
          <p:nvPr/>
        </p:nvSpPr>
        <p:spPr>
          <a:xfrm>
            <a:off x="1203956" y="3514348"/>
            <a:ext cx="8948057" cy="82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dirty="0"/>
              <a:t>Tema de la sesión: Gestión de Módulos</a:t>
            </a:r>
          </a:p>
        </p:txBody>
      </p:sp>
      <p:sp>
        <p:nvSpPr>
          <p:cNvPr id="10" name="Google Shape;75;p1">
            <a:extLst>
              <a:ext uri="{FF2B5EF4-FFF2-40B4-BE49-F238E27FC236}">
                <a16:creationId xmlns:a16="http://schemas.microsoft.com/office/drawing/2014/main" id="{6CC9AD06-603A-C9AD-2453-665921005225}"/>
              </a:ext>
            </a:extLst>
          </p:cNvPr>
          <p:cNvSpPr txBox="1">
            <a:spLocks/>
          </p:cNvSpPr>
          <p:nvPr/>
        </p:nvSpPr>
        <p:spPr>
          <a:xfrm>
            <a:off x="1283967" y="5617572"/>
            <a:ext cx="8948057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MX" dirty="0">
                <a:solidFill>
                  <a:srgbClr val="888888"/>
                </a:solidFill>
              </a:rPr>
              <a:t>Carrera: Diseño y Desarrollo de Software – C24</a:t>
            </a:r>
          </a:p>
        </p:txBody>
      </p:sp>
      <p:sp>
        <p:nvSpPr>
          <p:cNvPr id="12" name="Google Shape;75;p1">
            <a:extLst>
              <a:ext uri="{FF2B5EF4-FFF2-40B4-BE49-F238E27FC236}">
                <a16:creationId xmlns:a16="http://schemas.microsoft.com/office/drawing/2014/main" id="{E7D6C4C1-335B-C8E1-D1BB-72DEE13EACF7}"/>
              </a:ext>
            </a:extLst>
          </p:cNvPr>
          <p:cNvSpPr txBox="1">
            <a:spLocks/>
          </p:cNvSpPr>
          <p:nvPr/>
        </p:nvSpPr>
        <p:spPr>
          <a:xfrm>
            <a:off x="1203956" y="6074772"/>
            <a:ext cx="8948057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MX" dirty="0">
                <a:solidFill>
                  <a:srgbClr val="888888"/>
                </a:solidFill>
              </a:rPr>
              <a:t>Docente: William Arévalo Sermeño</a:t>
            </a:r>
          </a:p>
        </p:txBody>
      </p:sp>
    </p:spTree>
    <p:extLst>
      <p:ext uri="{BB962C8B-B14F-4D97-AF65-F5344CB8AC3E}">
        <p14:creationId xmlns:p14="http://schemas.microsoft.com/office/powerpoint/2010/main" val="145005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bba47f0c8b_0_0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800"/>
            </a:pPr>
            <a:r>
              <a:rPr lang="es-PE" sz="4000" dirty="0">
                <a:solidFill>
                  <a:srgbClr val="000000"/>
                </a:solidFill>
              </a:rPr>
              <a:t>Capacidades Terminales</a:t>
            </a:r>
            <a:endParaRPr sz="4000" dirty="0"/>
          </a:p>
        </p:txBody>
      </p:sp>
      <p:sp>
        <p:nvSpPr>
          <p:cNvPr id="87" name="Google Shape;87;g2bba47f0c8b_0_0"/>
          <p:cNvSpPr txBox="1">
            <a:spLocks noGrp="1"/>
          </p:cNvSpPr>
          <p:nvPr>
            <p:ph type="body" idx="1"/>
          </p:nvPr>
        </p:nvSpPr>
        <p:spPr>
          <a:xfrm>
            <a:off x="326572" y="2430731"/>
            <a:ext cx="9609908" cy="391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381000">
              <a:lnSpc>
                <a:spcPct val="15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●"/>
            </a:pPr>
            <a:r>
              <a:rPr lang="es-MX" dirty="0"/>
              <a:t>Comprender los conceptos fundamentales del protocolo HTTP y su aplicación en el desarrollo de servicios web.</a:t>
            </a:r>
          </a:p>
          <a:p>
            <a:pPr marL="457200" indent="-381000">
              <a:lnSpc>
                <a:spcPct val="15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●"/>
            </a:pPr>
            <a:r>
              <a:rPr lang="es-MX" dirty="0"/>
              <a:t>Gestionar comunicaciones HTTP en Node.js utilizando el módulo http.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B61E641-2B7E-12B5-572D-3FE7B63E3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bba47f0c8b_0_0">
            <a:extLst>
              <a:ext uri="{FF2B5EF4-FFF2-40B4-BE49-F238E27FC236}">
                <a16:creationId xmlns:a16="http://schemas.microsoft.com/office/drawing/2014/main" id="{EABCFCFF-12DB-3178-99B3-54CE6A75F7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s-PE" sz="4000" dirty="0"/>
              <a:t>Contenido</a:t>
            </a:r>
            <a:endParaRPr sz="4000" dirty="0"/>
          </a:p>
        </p:txBody>
      </p:sp>
      <p:sp>
        <p:nvSpPr>
          <p:cNvPr id="87" name="Google Shape;87;g2bba47f0c8b_0_0">
            <a:extLst>
              <a:ext uri="{FF2B5EF4-FFF2-40B4-BE49-F238E27FC236}">
                <a16:creationId xmlns:a16="http://schemas.microsoft.com/office/drawing/2014/main" id="{B693000B-FD78-99B3-B5A8-BA6C69BDE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6572" y="2430731"/>
            <a:ext cx="8197101" cy="298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PE" dirty="0"/>
              <a:t>Introducción a HTTP.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dirty="0"/>
              <a:t>Implementación de un servidor web.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dirty="0"/>
              <a:t>Consumir un servicio API REST.</a:t>
            </a:r>
          </a:p>
        </p:txBody>
      </p:sp>
    </p:spTree>
    <p:extLst>
      <p:ext uri="{BB962C8B-B14F-4D97-AF65-F5344CB8AC3E}">
        <p14:creationId xmlns:p14="http://schemas.microsoft.com/office/powerpoint/2010/main" val="1526886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D776A-23BC-4DBC-A5E4-F71D1EEF2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</p:spPr>
        <p:txBody>
          <a:bodyPr anchor="ctr">
            <a:normAutofit/>
          </a:bodyPr>
          <a:lstStyle/>
          <a:p>
            <a:r>
              <a:rPr lang="es-PE" dirty="0"/>
              <a:t>¿</a:t>
            </a:r>
            <a:r>
              <a:rPr lang="es-ES" dirty="0"/>
              <a:t>Qué es </a:t>
            </a:r>
            <a:r>
              <a:rPr lang="es-ES" dirty="0">
                <a:solidFill>
                  <a:srgbClr val="002060"/>
                </a:solidFill>
              </a:rPr>
              <a:t>HTTP</a:t>
            </a:r>
            <a:r>
              <a:rPr lang="es-ES" dirty="0"/>
              <a:t>?</a:t>
            </a:r>
            <a:endParaRPr lang="es-PE" dirty="0"/>
          </a:p>
        </p:txBody>
      </p:sp>
      <p:pic>
        <p:nvPicPr>
          <p:cNvPr id="3074" name="Picture 2" descr="Logotipo&#10;&#10;El contenido generado por IA puede ser incorrecto.">
            <a:extLst>
              <a:ext uri="{FF2B5EF4-FFF2-40B4-BE49-F238E27FC236}">
                <a16:creationId xmlns:a16="http://schemas.microsoft.com/office/drawing/2014/main" id="{DEDFAEFB-5DD5-D574-F437-2C075C848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3803" y="2788472"/>
            <a:ext cx="4253243" cy="227548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1B1DA6-F52A-40AC-A392-887419D8E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7046" y="1574446"/>
            <a:ext cx="5709697" cy="470353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s-MX" sz="2400" dirty="0"/>
              <a:t>HTTP (</a:t>
            </a:r>
            <a:r>
              <a:rPr lang="es-MX" sz="2400" dirty="0" err="1"/>
              <a:t>HyperText</a:t>
            </a:r>
            <a:r>
              <a:rPr lang="es-MX" sz="2400" dirty="0"/>
              <a:t> Transfer </a:t>
            </a:r>
            <a:r>
              <a:rPr lang="es-MX" sz="2400" dirty="0" err="1"/>
              <a:t>Protocol</a:t>
            </a:r>
            <a:r>
              <a:rPr lang="es-MX" sz="2400" dirty="0"/>
              <a:t>) es el protocolo base de la comunicación en la web, utilizado para el intercambio de información entre clientes y servidores.</a:t>
            </a:r>
          </a:p>
          <a:p>
            <a:pPr>
              <a:lnSpc>
                <a:spcPct val="100000"/>
              </a:lnSpc>
            </a:pPr>
            <a:r>
              <a:rPr lang="es-MX" sz="2400" dirty="0"/>
              <a:t>Funciona bajo un modelo cliente-servidor, donde el cliente realiza solicitudes y el servidor responde con los recursos solicitados.</a:t>
            </a:r>
          </a:p>
          <a:p>
            <a:pPr>
              <a:lnSpc>
                <a:spcPct val="100000"/>
              </a:lnSpc>
            </a:pPr>
            <a:r>
              <a:rPr lang="es-MX" sz="2400" dirty="0"/>
              <a:t>Es un protocolo sin estado (</a:t>
            </a:r>
            <a:r>
              <a:rPr lang="es-MX" sz="2400" dirty="0" err="1"/>
              <a:t>stateless</a:t>
            </a:r>
            <a:r>
              <a:rPr lang="es-MX" sz="2400" dirty="0"/>
              <a:t>), lo que significa que cada solicitud se procesa de forma independiente, sin recordar interacciones previas.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28235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F50F5-406C-6465-7328-10B7ECC2D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Diferencias entre </a:t>
            </a:r>
            <a:r>
              <a:rPr lang="es-MX" dirty="0">
                <a:solidFill>
                  <a:srgbClr val="00B050"/>
                </a:solidFill>
              </a:rPr>
              <a:t>HTTP</a:t>
            </a:r>
            <a:r>
              <a:rPr lang="es-MX" dirty="0"/>
              <a:t> y </a:t>
            </a:r>
            <a:r>
              <a:rPr lang="es-MX" dirty="0">
                <a:solidFill>
                  <a:schemeClr val="accent6">
                    <a:lumMod val="75000"/>
                  </a:schemeClr>
                </a:solidFill>
              </a:rPr>
              <a:t>HTTPS</a:t>
            </a:r>
            <a:endParaRPr lang="es-PE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3B4A3D4-1152-A18A-8A57-BF42DA120BE4}"/>
              </a:ext>
            </a:extLst>
          </p:cNvPr>
          <p:cNvSpPr txBox="1"/>
          <p:nvPr/>
        </p:nvSpPr>
        <p:spPr>
          <a:xfrm>
            <a:off x="326572" y="2357513"/>
            <a:ext cx="4518406" cy="3119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Datos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texto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plano,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seguro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HTTPS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Usa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TLS/SSL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cifrar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garantizar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autenticidad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Importancia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día a día: login,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pagos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APIs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seguras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26" name="Picture 2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A2EF8E10-FB1F-8582-AB58-442FA204E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66601" y="2357513"/>
            <a:ext cx="5274186" cy="301947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716EC2-2999-AD32-AF9D-632086D39BBB}"/>
              </a:ext>
            </a:extLst>
          </p:cNvPr>
          <p:cNvSpPr txBox="1"/>
          <p:nvPr/>
        </p:nvSpPr>
        <p:spPr>
          <a:xfrm>
            <a:off x="0" y="226582"/>
            <a:ext cx="10584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001F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Métodos </a:t>
            </a:r>
            <a:r>
              <a:rPr lang="es-ES" sz="4000" b="1" dirty="0">
                <a:solidFill>
                  <a:srgbClr val="008E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C015BFA7-A5A8-3347-8680-A12DA5282F80}"/>
              </a:ext>
            </a:extLst>
          </p:cNvPr>
          <p:cNvSpPr txBox="1"/>
          <p:nvPr/>
        </p:nvSpPr>
        <p:spPr>
          <a:xfrm>
            <a:off x="608215" y="3660911"/>
            <a:ext cx="4839108" cy="111504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Son formas mediante las cuales el cliente solicita alguna acción al servidor</a:t>
            </a:r>
            <a:r>
              <a:rPr lang="es-ES" sz="2400" spc="-4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731786FD-9EEB-8170-744F-8E3AF89A06CB}"/>
              </a:ext>
            </a:extLst>
          </p:cNvPr>
          <p:cNvSpPr txBox="1"/>
          <p:nvPr/>
        </p:nvSpPr>
        <p:spPr>
          <a:xfrm>
            <a:off x="5627078" y="3660911"/>
            <a:ext cx="4751754" cy="185371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Entenderlos es fundamental para comprender la forma en que funciona la metodología REST (Representational State Transfer)</a:t>
            </a:r>
            <a:r>
              <a:rPr lang="es-ES" sz="2400" spc="-4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EBF7F38-F9F8-41E2-B25B-6D075B1A6E7E}"/>
              </a:ext>
            </a:extLst>
          </p:cNvPr>
          <p:cNvSpPr txBox="1"/>
          <p:nvPr/>
        </p:nvSpPr>
        <p:spPr>
          <a:xfrm>
            <a:off x="608216" y="5130556"/>
            <a:ext cx="4839107" cy="111504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HTTP define una gran cantidad de métodos que son utilizados para diferentes circunstancias</a:t>
            </a:r>
            <a:r>
              <a:rPr lang="es-ES" sz="2400" spc="-4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53E46D-279E-5595-869C-097FEE652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993" y="1265009"/>
            <a:ext cx="4458483" cy="216367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99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C1597-EF93-D283-568E-7DFFF085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A936745-1775-6125-74F6-1FE1247F6825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001F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¿Cuáles son los métodos </a:t>
            </a:r>
            <a:r>
              <a:rPr lang="es-ES" sz="3600" b="1" dirty="0">
                <a:solidFill>
                  <a:srgbClr val="008E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empleados?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7E8C6DE1-6DAE-FEF8-CE58-7F81C5D693D9}"/>
              </a:ext>
            </a:extLst>
          </p:cNvPr>
          <p:cNvSpPr txBox="1"/>
          <p:nvPr/>
        </p:nvSpPr>
        <p:spPr>
          <a:xfrm>
            <a:off x="3871916" y="1530548"/>
            <a:ext cx="6217453" cy="93038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11150" indent="-287020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311150" algn="l"/>
                <a:tab pos="311785" algn="l"/>
              </a:tabLst>
            </a:pPr>
            <a:r>
              <a:rPr lang="es-ES" sz="2000" b="1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Se utiliza para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solicitar datos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de un recurso en el servidor. No debe modificar la información, solo leerla.</a:t>
            </a:r>
            <a:endParaRPr lang="es-E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A2C31CE1-5457-9501-37E4-C5D9EF36B467}"/>
              </a:ext>
            </a:extLst>
          </p:cNvPr>
          <p:cNvSpPr txBox="1"/>
          <p:nvPr/>
        </p:nvSpPr>
        <p:spPr>
          <a:xfrm>
            <a:off x="3871914" y="2589054"/>
            <a:ext cx="6217453" cy="62260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11150" indent="-287020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311150" algn="l"/>
                <a:tab pos="311785" algn="l"/>
              </a:tabLst>
            </a:pPr>
            <a:r>
              <a:rPr lang="es-ES" sz="2000" b="1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Se usa para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enviar datos al servidor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normalmente para crear un nuevo recurso.</a:t>
            </a:r>
            <a:endParaRPr lang="es-ES" sz="2000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58A0392B-20DF-DCD1-4D37-ECF0F540AC86}"/>
              </a:ext>
            </a:extLst>
          </p:cNvPr>
          <p:cNvSpPr txBox="1"/>
          <p:nvPr/>
        </p:nvSpPr>
        <p:spPr>
          <a:xfrm>
            <a:off x="3871914" y="3441144"/>
            <a:ext cx="6217453" cy="62260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11150" indent="-287020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311150" algn="l"/>
                <a:tab pos="311785" algn="l"/>
              </a:tabLst>
            </a:pPr>
            <a:r>
              <a:rPr lang="es-ES" sz="2000" b="1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Sirve para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reemplazar por completo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un recurso existente con la información enviada.</a:t>
            </a:r>
            <a:endParaRPr lang="es-ES" sz="2000" b="1" i="1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5">
            <a:extLst>
              <a:ext uri="{FF2B5EF4-FFF2-40B4-BE49-F238E27FC236}">
                <a16:creationId xmlns:a16="http://schemas.microsoft.com/office/drawing/2014/main" id="{565654D3-8A40-16D2-5925-71BE2718764D}"/>
              </a:ext>
            </a:extLst>
          </p:cNvPr>
          <p:cNvSpPr txBox="1"/>
          <p:nvPr/>
        </p:nvSpPr>
        <p:spPr>
          <a:xfrm>
            <a:off x="3871914" y="4306615"/>
            <a:ext cx="6217453" cy="62260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11150" indent="-287020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311150" algn="l"/>
                <a:tab pos="311785" algn="l"/>
              </a:tabLst>
            </a:pPr>
            <a:r>
              <a:rPr lang="es-ES" sz="2000" b="1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PATCH: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Permite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actualizar parcialmente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un recurso, modificando solo algunos de sus campos</a:t>
            </a:r>
            <a:endParaRPr lang="es-ES" sz="2000" b="1" i="1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1648617F-43BD-1F27-64C2-0790E9E1F74A}"/>
              </a:ext>
            </a:extLst>
          </p:cNvPr>
          <p:cNvSpPr txBox="1"/>
          <p:nvPr/>
        </p:nvSpPr>
        <p:spPr>
          <a:xfrm>
            <a:off x="3871914" y="5172086"/>
            <a:ext cx="6217453" cy="62260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11150" indent="-287020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311150" algn="l"/>
                <a:tab pos="311785" algn="l"/>
              </a:tabLst>
            </a:pPr>
            <a:r>
              <a:rPr lang="es-ES" sz="2000" b="1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Se utiliza para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eliminar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un recurso en el servidor.</a:t>
            </a:r>
            <a:endParaRPr lang="es-ES" sz="2000" b="1" i="1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2B19E30-EC63-94C9-97B9-0DB8CED4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16" y="2460931"/>
            <a:ext cx="3161607" cy="2371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52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7F7C0-7549-FBCC-1254-C8DFA80DE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B440E1-16AE-6EDB-1CD7-B013F58EA4C9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Respuesta </a:t>
            </a:r>
            <a:r>
              <a:rPr lang="es-E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Servidor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4BC3C-7432-1F28-8766-01113E5E3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382" y="1969519"/>
            <a:ext cx="7795129" cy="4710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568DDAD0-AABA-4D71-EC33-BB379402DEFB}"/>
              </a:ext>
            </a:extLst>
          </p:cNvPr>
          <p:cNvSpPr txBox="1"/>
          <p:nvPr/>
        </p:nvSpPr>
        <p:spPr>
          <a:xfrm>
            <a:off x="509688" y="1085413"/>
            <a:ext cx="9635798" cy="62260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88315" marR="12065" lvl="1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26390" algn="l"/>
              </a:tabLst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El servidor retorna una respuesta conteniendo el código HTTP como resultado de la petición del cliente.</a:t>
            </a:r>
          </a:p>
        </p:txBody>
      </p:sp>
    </p:spTree>
    <p:extLst>
      <p:ext uri="{BB962C8B-B14F-4D97-AF65-F5344CB8AC3E}">
        <p14:creationId xmlns:p14="http://schemas.microsoft.com/office/powerpoint/2010/main" val="244547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688F0-847B-7822-E5D2-B63A4BA34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671CC06-5304-619C-D0F9-FFC04244F63F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001F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trabajan los métodos </a:t>
            </a:r>
            <a:r>
              <a:rPr lang="es-ES" sz="3600" b="1" dirty="0">
                <a:solidFill>
                  <a:srgbClr val="008E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HTTP?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7B37409-63B1-EBE2-742D-E7E1CFEE34BE}"/>
              </a:ext>
            </a:extLst>
          </p:cNvPr>
          <p:cNvCxnSpPr>
            <a:cxnSpLocks/>
          </p:cNvCxnSpPr>
          <p:nvPr/>
        </p:nvCxnSpPr>
        <p:spPr>
          <a:xfrm>
            <a:off x="4312358" y="4103449"/>
            <a:ext cx="3501606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7733640-7D1B-B944-962C-082BF8786047}"/>
              </a:ext>
            </a:extLst>
          </p:cNvPr>
          <p:cNvCxnSpPr>
            <a:cxnSpLocks/>
          </p:cNvCxnSpPr>
          <p:nvPr/>
        </p:nvCxnSpPr>
        <p:spPr>
          <a:xfrm>
            <a:off x="4294262" y="2799733"/>
            <a:ext cx="3519702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5F7CD22-9BE6-DD12-0481-12BD0B363DB5}"/>
              </a:ext>
            </a:extLst>
          </p:cNvPr>
          <p:cNvSpPr txBox="1"/>
          <p:nvPr/>
        </p:nvSpPr>
        <p:spPr>
          <a:xfrm>
            <a:off x="5498799" y="2226307"/>
            <a:ext cx="1197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D0FD76A-984B-237D-234C-C42911B11A6C}"/>
              </a:ext>
            </a:extLst>
          </p:cNvPr>
          <p:cNvSpPr txBox="1"/>
          <p:nvPr/>
        </p:nvSpPr>
        <p:spPr>
          <a:xfrm>
            <a:off x="5443455" y="4208497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418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</a:p>
        </p:txBody>
      </p:sp>
      <p:pic>
        <p:nvPicPr>
          <p:cNvPr id="1028" name="Picture 4" descr="Why Use Express with Node.js?">
            <a:extLst>
              <a:ext uri="{FF2B5EF4-FFF2-40B4-BE49-F238E27FC236}">
                <a16:creationId xmlns:a16="http://schemas.microsoft.com/office/drawing/2014/main" id="{D0CA9902-074C-8F96-D924-E3DEFD8AA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285" y="4378769"/>
            <a:ext cx="2406940" cy="160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prende Node.js y Express - Curso desde cero">
            <a:extLst>
              <a:ext uri="{FF2B5EF4-FFF2-40B4-BE49-F238E27FC236}">
                <a16:creationId xmlns:a16="http://schemas.microsoft.com/office/drawing/2014/main" id="{DEF66A08-6283-9495-0D14-8006A2739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0" t="34882" r="65866" b="25462"/>
          <a:stretch/>
        </p:blipFill>
        <p:spPr bwMode="auto">
          <a:xfrm>
            <a:off x="1621864" y="2388927"/>
            <a:ext cx="2372279" cy="198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Aprende Node.js y Express - Curso desde cero">
            <a:extLst>
              <a:ext uri="{FF2B5EF4-FFF2-40B4-BE49-F238E27FC236}">
                <a16:creationId xmlns:a16="http://schemas.microsoft.com/office/drawing/2014/main" id="{F6499D39-D312-B776-C01B-F5C0B22772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96" t="30342" r="34333" b="30002"/>
          <a:stretch/>
        </p:blipFill>
        <p:spPr bwMode="auto">
          <a:xfrm>
            <a:off x="7987392" y="2388927"/>
            <a:ext cx="2075936" cy="198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cono Smart Devices. Icono de teléfono,: vector de stock (libre de  regalías) 1476280175 | Shutterstock">
            <a:extLst>
              <a:ext uri="{FF2B5EF4-FFF2-40B4-BE49-F238E27FC236}">
                <a16:creationId xmlns:a16="http://schemas.microsoft.com/office/drawing/2014/main" id="{17AA86D9-1BAF-70F3-818A-8E353B90CD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3" b="18256"/>
          <a:stretch/>
        </p:blipFill>
        <p:spPr bwMode="auto">
          <a:xfrm>
            <a:off x="1989752" y="4408552"/>
            <a:ext cx="1719263" cy="97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63DB20BD-515E-2CB2-0B82-0EBA622A92BF}"/>
              </a:ext>
            </a:extLst>
          </p:cNvPr>
          <p:cNvSpPr/>
          <p:nvPr/>
        </p:nvSpPr>
        <p:spPr>
          <a:xfrm>
            <a:off x="490493" y="4184652"/>
            <a:ext cx="807522" cy="80752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P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endParaRPr lang="es-E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A932E07-DC26-A088-4AEF-A39F5365781D}"/>
              </a:ext>
            </a:extLst>
          </p:cNvPr>
          <p:cNvSpPr/>
          <p:nvPr/>
        </p:nvSpPr>
        <p:spPr>
          <a:xfrm>
            <a:off x="490493" y="3194998"/>
            <a:ext cx="807522" cy="80752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endParaRPr lang="es-E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28D3A68-828A-2F96-BDDF-48BAA3F4BBCF}"/>
              </a:ext>
            </a:extLst>
          </p:cNvPr>
          <p:cNvSpPr/>
          <p:nvPr/>
        </p:nvSpPr>
        <p:spPr>
          <a:xfrm>
            <a:off x="490493" y="2205344"/>
            <a:ext cx="807522" cy="807522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endParaRPr lang="es-ES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F5DA1CA-0B59-FE61-6B18-15EBB5E113C9}"/>
              </a:ext>
            </a:extLst>
          </p:cNvPr>
          <p:cNvSpPr/>
          <p:nvPr/>
        </p:nvSpPr>
        <p:spPr>
          <a:xfrm>
            <a:off x="490493" y="1215690"/>
            <a:ext cx="807522" cy="80752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</a:t>
            </a:r>
            <a:endParaRPr lang="es-E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A37BE89-0A08-3292-6648-160AE8BD052F}"/>
              </a:ext>
            </a:extLst>
          </p:cNvPr>
          <p:cNvSpPr/>
          <p:nvPr/>
        </p:nvSpPr>
        <p:spPr>
          <a:xfrm>
            <a:off x="490493" y="5174307"/>
            <a:ext cx="807522" cy="80752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P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PATCH</a:t>
            </a:r>
            <a:endParaRPr lang="es-E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742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D733E-307F-5469-B934-93A6F079E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A0DA9-9B76-7C56-4D4D-CDFA4616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Diferencias entre </a:t>
            </a:r>
            <a:r>
              <a:rPr lang="es-ES" sz="4000" dirty="0" err="1">
                <a:solidFill>
                  <a:srgbClr val="FF0000"/>
                </a:solidFill>
              </a:rPr>
              <a:t>Request</a:t>
            </a:r>
            <a:r>
              <a:rPr lang="es-ES" sz="4000" dirty="0"/>
              <a:t> y </a:t>
            </a:r>
            <a:r>
              <a:rPr lang="es-ES" sz="4000" dirty="0">
                <a:solidFill>
                  <a:srgbClr val="002060"/>
                </a:solidFill>
              </a:rPr>
              <a:t>Response</a:t>
            </a:r>
            <a:endParaRPr lang="es-PE" sz="4000" dirty="0">
              <a:solidFill>
                <a:srgbClr val="00206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82C248-6928-EB76-E7A1-132A9D072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MX" sz="2400" b="1" dirty="0" err="1"/>
              <a:t>Request</a:t>
            </a:r>
            <a:r>
              <a:rPr lang="es-MX" sz="2400" dirty="0"/>
              <a:t>: Lo que el cliente envía al servidor. Incluye:</a:t>
            </a:r>
          </a:p>
          <a:p>
            <a:pPr lvl="1">
              <a:lnSpc>
                <a:spcPct val="100000"/>
              </a:lnSpc>
            </a:pPr>
            <a:r>
              <a:rPr lang="es-MX" dirty="0"/>
              <a:t>Método (GET, POST, …)</a:t>
            </a:r>
          </a:p>
          <a:p>
            <a:pPr lvl="1">
              <a:lnSpc>
                <a:spcPct val="100000"/>
              </a:lnSpc>
            </a:pPr>
            <a:r>
              <a:rPr lang="es-MX" dirty="0" err="1"/>
              <a:t>Headers</a:t>
            </a:r>
            <a:r>
              <a:rPr lang="es-MX" dirty="0"/>
              <a:t> (ej. Content-</a:t>
            </a:r>
            <a:r>
              <a:rPr lang="es-MX" dirty="0" err="1"/>
              <a:t>Type</a:t>
            </a:r>
            <a:r>
              <a:rPr lang="es-MX" dirty="0"/>
              <a:t>, </a:t>
            </a:r>
            <a:r>
              <a:rPr lang="es-MX" dirty="0" err="1"/>
              <a:t>Authorization</a:t>
            </a:r>
            <a:r>
              <a:rPr lang="es-MX" dirty="0"/>
              <a:t>)</a:t>
            </a:r>
          </a:p>
          <a:p>
            <a:pPr lvl="1">
              <a:lnSpc>
                <a:spcPct val="100000"/>
              </a:lnSpc>
            </a:pPr>
            <a:r>
              <a:rPr lang="es-MX" dirty="0" err="1"/>
              <a:t>Body</a:t>
            </a:r>
            <a:r>
              <a:rPr lang="es-MX" dirty="0"/>
              <a:t> (datos enviados, por ejemplo en JSON).</a:t>
            </a:r>
          </a:p>
          <a:p>
            <a:pPr>
              <a:lnSpc>
                <a:spcPct val="100000"/>
              </a:lnSpc>
            </a:pPr>
            <a:r>
              <a:rPr lang="es-MX" sz="2400" b="1" dirty="0"/>
              <a:t>Response</a:t>
            </a:r>
            <a:r>
              <a:rPr lang="es-MX" sz="2400" dirty="0"/>
              <a:t>: Lo que devuelve el servidor. Incluye:</a:t>
            </a:r>
          </a:p>
          <a:p>
            <a:pPr lvl="1">
              <a:lnSpc>
                <a:spcPct val="100000"/>
              </a:lnSpc>
            </a:pPr>
            <a:r>
              <a:rPr lang="es-MX" dirty="0"/>
              <a:t>Código de estado</a:t>
            </a:r>
          </a:p>
          <a:p>
            <a:pPr lvl="1">
              <a:lnSpc>
                <a:spcPct val="100000"/>
              </a:lnSpc>
            </a:pPr>
            <a:r>
              <a:rPr lang="es-MX" dirty="0" err="1"/>
              <a:t>Headers</a:t>
            </a:r>
            <a:endParaRPr lang="es-MX" dirty="0"/>
          </a:p>
          <a:p>
            <a:pPr lvl="1">
              <a:lnSpc>
                <a:spcPct val="100000"/>
              </a:lnSpc>
            </a:pPr>
            <a:r>
              <a:rPr lang="es-MX" dirty="0" err="1"/>
              <a:t>Body</a:t>
            </a:r>
            <a:r>
              <a:rPr lang="es-MX" dirty="0"/>
              <a:t> (HTML, JSON, archivos, </a:t>
            </a:r>
            <a:r>
              <a:rPr lang="es-MX" dirty="0" err="1"/>
              <a:t>etc</a:t>
            </a:r>
            <a:r>
              <a:rPr lang="es-MX" dirty="0"/>
              <a:t>).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207414-D190-FC83-4848-1B2BE53B2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15" y="4027420"/>
            <a:ext cx="4445462" cy="197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24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A7BE-3501-5D77-99BF-8515F8A0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6DD053E-4AB3-7A87-43E8-42D818A2E2BF}"/>
              </a:ext>
            </a:extLst>
          </p:cNvPr>
          <p:cNvSpPr txBox="1"/>
          <p:nvPr/>
        </p:nvSpPr>
        <p:spPr>
          <a:xfrm>
            <a:off x="0" y="177582"/>
            <a:ext cx="10584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008E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es </a:t>
            </a:r>
            <a:r>
              <a:rPr lang="es-ES" sz="4000" b="1" dirty="0">
                <a:latin typeface="Arial" panose="020B0604020202020204" pitchFamily="34" charset="0"/>
                <a:cs typeface="Arial" panose="020B0604020202020204" pitchFamily="34" charset="0"/>
              </a:rPr>
              <a:t>JSON?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AA17585E-E734-6B49-1CEA-2AE85F6B3499}"/>
              </a:ext>
            </a:extLst>
          </p:cNvPr>
          <p:cNvSpPr txBox="1"/>
          <p:nvPr/>
        </p:nvSpPr>
        <p:spPr>
          <a:xfrm>
            <a:off x="4874834" y="1321641"/>
            <a:ext cx="5147939" cy="74571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9720" algn="l"/>
                <a:tab pos="300355" algn="l"/>
              </a:tabLst>
            </a:pPr>
            <a:r>
              <a:rPr lang="es-ES" sz="2400" spc="-5" dirty="0">
                <a:latin typeface="Arial" panose="020B0604020202020204" pitchFamily="34" charset="0"/>
                <a:cs typeface="Arial" panose="020B0604020202020204" pitchFamily="34" charset="0"/>
              </a:rPr>
              <a:t>Sus iniciales significan: JavaScript </a:t>
            </a:r>
            <a:r>
              <a:rPr lang="es-ES" sz="2400" spc="-5" dirty="0" err="1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es-ES" sz="2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spc="-5" dirty="0" err="1">
                <a:latin typeface="Arial" panose="020B0604020202020204" pitchFamily="34" charset="0"/>
                <a:cs typeface="Arial" panose="020B0604020202020204" pitchFamily="34" charset="0"/>
              </a:rPr>
              <a:t>Notation</a:t>
            </a:r>
            <a:r>
              <a:rPr lang="es-ES" sz="2400" spc="-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Cómo abrir los archivos json - Blog InfoComputer">
            <a:extLst>
              <a:ext uri="{FF2B5EF4-FFF2-40B4-BE49-F238E27FC236}">
                <a16:creationId xmlns:a16="http://schemas.microsoft.com/office/drawing/2014/main" id="{FA821B8C-1AE6-378A-5B9F-0AF131CFC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19" y="1693033"/>
            <a:ext cx="3666931" cy="366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70359306-3CDF-F885-0482-B5CBD7B4DD9E}"/>
              </a:ext>
            </a:extLst>
          </p:cNvPr>
          <p:cNvSpPr txBox="1"/>
          <p:nvPr/>
        </p:nvSpPr>
        <p:spPr>
          <a:xfrm>
            <a:off x="4874836" y="2566556"/>
            <a:ext cx="5147939" cy="74571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9720" algn="l"/>
                <a:tab pos="300355" algn="l"/>
              </a:tabLst>
            </a:pPr>
            <a:r>
              <a:rPr lang="es-ES" sz="2400" spc="-5" dirty="0">
                <a:latin typeface="Arial" panose="020B0604020202020204" pitchFamily="34" charset="0"/>
                <a:cs typeface="Arial" panose="020B0604020202020204" pitchFamily="34" charset="0"/>
              </a:rPr>
              <a:t>Es un formato ligero de intercambio de datos.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A2D28D47-DC1A-3252-2BC4-398517B48FC0}"/>
              </a:ext>
            </a:extLst>
          </p:cNvPr>
          <p:cNvSpPr txBox="1"/>
          <p:nvPr/>
        </p:nvSpPr>
        <p:spPr>
          <a:xfrm>
            <a:off x="4874834" y="3811471"/>
            <a:ext cx="5147939" cy="74571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9720" algn="l"/>
                <a:tab pos="300355" algn="l"/>
              </a:tabLst>
            </a:pPr>
            <a:r>
              <a:rPr lang="es-ES" sz="2400" spc="-5" dirty="0">
                <a:latin typeface="Arial" panose="020B0604020202020204" pitchFamily="34" charset="0"/>
                <a:cs typeface="Arial" panose="020B0604020202020204" pitchFamily="34" charset="0"/>
              </a:rPr>
              <a:t>Se basa en indeterminados subconjuntos de datos.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19CAD8A6-601B-F734-37AD-76C4B7508EA8}"/>
              </a:ext>
            </a:extLst>
          </p:cNvPr>
          <p:cNvSpPr txBox="1"/>
          <p:nvPr/>
        </p:nvSpPr>
        <p:spPr>
          <a:xfrm>
            <a:off x="4874834" y="5056387"/>
            <a:ext cx="5147939" cy="74571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9720" algn="l"/>
                <a:tab pos="300355" algn="l"/>
              </a:tabLst>
            </a:pPr>
            <a:r>
              <a:rPr lang="es-ES" sz="2400" spc="-5" dirty="0">
                <a:latin typeface="Arial" panose="020B0604020202020204" pitchFamily="34" charset="0"/>
                <a:cs typeface="Arial" panose="020B0604020202020204" pitchFamily="34" charset="0"/>
              </a:rPr>
              <a:t>Es una alternativa mas sencilla de manejar que XML.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62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0DC466C-76BA-579F-2CDD-E2D948CB5E1F}"/>
              </a:ext>
            </a:extLst>
          </p:cNvPr>
          <p:cNvSpPr txBox="1"/>
          <p:nvPr/>
        </p:nvSpPr>
        <p:spPr>
          <a:xfrm>
            <a:off x="538713" y="1681419"/>
            <a:ext cx="92695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Un REST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es una aplicación o herramienta que permite enviar solicitudes HTTP a servicios web que siguen la arquitectura REST. </a:t>
            </a:r>
          </a:p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Estos clientes se utilizan para interactuar con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RESTful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permitiendo enviar solicitudes como GET, POST, PUT, DELETE, entre otras, y recibir respuestas del servidor en formatos como JSON o XML.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725779-FEF7-FB5A-A265-2115E710946A}"/>
              </a:ext>
            </a:extLst>
          </p:cNvPr>
          <p:cNvSpPr txBox="1"/>
          <p:nvPr/>
        </p:nvSpPr>
        <p:spPr>
          <a:xfrm>
            <a:off x="538713" y="3419231"/>
            <a:ext cx="6093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Ejemplos de REST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clients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B7B6485-C2D0-8425-7609-8C0D576D043D}"/>
              </a:ext>
            </a:extLst>
          </p:cNvPr>
          <p:cNvSpPr txBox="1"/>
          <p:nvPr/>
        </p:nvSpPr>
        <p:spPr>
          <a:xfrm>
            <a:off x="538714" y="4053196"/>
            <a:ext cx="90976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Postman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: Herramienta gráfica muy popular que permite crear, organizar y probar solicitudes HTTP fácilmente.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cURL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: Herramienta de línea de comandos que permite realizar solicitudes HTTP, FTP y otros protocolos. Es ampliamente usada en entornos de desarrollo y pruebas rápidas.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Insomnia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: Cliente REST con una interfaz sencilla e intuitiva, que también ofrece soporte para entornos, autenticación y pruebas avanzadas.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001959-C295-D978-B123-7027ACC89D65}"/>
              </a:ext>
            </a:extLst>
          </p:cNvPr>
          <p:cNvSpPr txBox="1"/>
          <p:nvPr/>
        </p:nvSpPr>
        <p:spPr>
          <a:xfrm>
            <a:off x="538713" y="248360"/>
            <a:ext cx="93633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solidFill>
                  <a:srgbClr val="418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</a:t>
            </a:r>
            <a:r>
              <a:rPr lang="es-E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CLIENTS: </a:t>
            </a:r>
          </a:p>
          <a:p>
            <a:r>
              <a:rPr 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Herramientas para probar </a:t>
            </a:r>
            <a:r>
              <a:rPr lang="es-PE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E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45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77FE5-880B-E688-76E3-59AF54F0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46" y="73342"/>
            <a:ext cx="10247086" cy="1120231"/>
          </a:xfrm>
        </p:spPr>
        <p:txBody>
          <a:bodyPr>
            <a:normAutofit/>
          </a:bodyPr>
          <a:lstStyle/>
          <a:p>
            <a:r>
              <a:rPr lang="es-MX" sz="4000" dirty="0"/>
              <a:t>Reto: </a:t>
            </a:r>
            <a:r>
              <a:rPr lang="es-ES" sz="4000" dirty="0"/>
              <a:t>Implementar un </a:t>
            </a:r>
            <a:r>
              <a:rPr lang="es-ES" sz="4000" dirty="0">
                <a:solidFill>
                  <a:srgbClr val="002060"/>
                </a:solidFill>
              </a:rPr>
              <a:t>servidor web</a:t>
            </a:r>
            <a:endParaRPr lang="es-PE" sz="4000" dirty="0">
              <a:solidFill>
                <a:srgbClr val="002060"/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50A25B4-470B-E102-CADB-184220A2F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8044" y="1059271"/>
            <a:ext cx="5745570" cy="572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90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5DF4D-1E8A-8FCF-077A-3893072AE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111351"/>
            <a:ext cx="10247086" cy="1325563"/>
          </a:xfrm>
        </p:spPr>
        <p:txBody>
          <a:bodyPr/>
          <a:lstStyle/>
          <a:p>
            <a:r>
              <a:rPr lang="es-MX" dirty="0"/>
              <a:t>Realizar pruebas en </a:t>
            </a:r>
            <a:r>
              <a:rPr lang="es-MX" dirty="0" err="1">
                <a:solidFill>
                  <a:srgbClr val="002060"/>
                </a:solidFill>
              </a:rPr>
              <a:t>Postman</a:t>
            </a:r>
            <a:endParaRPr lang="es-PE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FB6826-D46F-30EC-E5D2-DF096B4C1837}"/>
              </a:ext>
            </a:extLst>
          </p:cNvPr>
          <p:cNvSpPr txBox="1"/>
          <p:nvPr/>
        </p:nvSpPr>
        <p:spPr>
          <a:xfrm>
            <a:off x="457201" y="1341120"/>
            <a:ext cx="5460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Método</a:t>
            </a:r>
            <a:r>
              <a:rPr lang="es-MX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GET</a:t>
            </a:r>
            <a:endParaRPr lang="es-PE" sz="28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5A8C88C3-BB25-228A-014D-4BA69FDF6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788" y="1934008"/>
            <a:ext cx="8596213" cy="4629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2152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7D050-A847-0B90-3BAC-1F223BD6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0C49E64-9420-8793-3100-EA3BD98F3A8E}"/>
              </a:ext>
            </a:extLst>
          </p:cNvPr>
          <p:cNvSpPr txBox="1"/>
          <p:nvPr/>
        </p:nvSpPr>
        <p:spPr>
          <a:xfrm>
            <a:off x="426719" y="261256"/>
            <a:ext cx="5460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Método</a:t>
            </a:r>
            <a:r>
              <a:rPr lang="es-MX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HTTP POST</a:t>
            </a:r>
            <a:endParaRPr lang="es-PE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6BB4B7A-F222-3642-B541-88C86F0B3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97" y="994076"/>
            <a:ext cx="9702098" cy="5394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7786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FEAF8-0C14-6871-BDA9-D430993C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EBE74D3-F812-7E63-11AA-1541FD8160EF}"/>
              </a:ext>
            </a:extLst>
          </p:cNvPr>
          <p:cNvSpPr txBox="1"/>
          <p:nvPr/>
        </p:nvSpPr>
        <p:spPr>
          <a:xfrm>
            <a:off x="426719" y="261256"/>
            <a:ext cx="5460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Método</a:t>
            </a:r>
            <a:r>
              <a:rPr lang="es-MX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PUT</a:t>
            </a:r>
            <a:endParaRPr lang="es-PE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B0101E-D018-6449-1981-EF52DE48E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97" y="929928"/>
            <a:ext cx="9726253" cy="5479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9237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33446-BB09-5F1B-2D89-8C0AC639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70C14EE-90CF-17E5-C8E7-A4B39F3C88F2}"/>
              </a:ext>
            </a:extLst>
          </p:cNvPr>
          <p:cNvSpPr txBox="1"/>
          <p:nvPr/>
        </p:nvSpPr>
        <p:spPr>
          <a:xfrm>
            <a:off x="426719" y="261256"/>
            <a:ext cx="5460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Método</a:t>
            </a:r>
            <a:r>
              <a:rPr lang="es-MX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DELETE</a:t>
            </a:r>
            <a:endParaRPr lang="es-PE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77D707-0332-CE0D-CA86-5B860A687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97" y="929928"/>
            <a:ext cx="9726253" cy="547957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7D40493-30F7-6489-7DAF-D56EE7573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97" y="929928"/>
            <a:ext cx="9726253" cy="5446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563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033FD-3611-9CD9-FEDC-65B657CB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CAC09-A8C0-EF00-2ADD-FF8E2FEA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D8423-F27B-DD70-DB6E-17E84E8F3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MX" sz="2400" dirty="0"/>
              <a:t>El módulo http de Node.js brinda las herramientas necesarias para crear servidores capaces de recibir solicitudes y enviar respuestas, entendiendo la importancia de los métodos y códigos HTTP en la comunicación cliente-servidor.</a:t>
            </a:r>
          </a:p>
          <a:p>
            <a:pPr>
              <a:lnSpc>
                <a:spcPct val="100000"/>
              </a:lnSpc>
            </a:pPr>
            <a:r>
              <a:rPr lang="es-MX" sz="2400" dirty="0"/>
              <a:t>Gestionar comunicaciones HTTP en Node.js permite comprender cómo se transmiten datos mediante JSON y cómo estas interacciones sientan las bases para el desarrollo de </a:t>
            </a:r>
            <a:r>
              <a:rPr lang="es-MX" sz="2400" dirty="0" err="1"/>
              <a:t>APIs</a:t>
            </a:r>
            <a:r>
              <a:rPr lang="es-MX" sz="2400" dirty="0"/>
              <a:t> y aplicaciones web modernas, escalables y seguras.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943624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F6355-7200-3B00-7E1C-AF54DAF5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0913C-C80A-0645-FFCF-990763474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Referencias </a:t>
            </a:r>
            <a:r>
              <a:rPr lang="es-ES" dirty="0" err="1"/>
              <a:t>Bibliogr</a:t>
            </a:r>
            <a:r>
              <a:rPr lang="es-MX" dirty="0"/>
              <a:t>á</a:t>
            </a:r>
            <a:r>
              <a:rPr lang="es-ES" dirty="0"/>
              <a:t>ficas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D16D71-52BE-DE16-61A8-CE1B1587D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PE" sz="2400" dirty="0"/>
              <a:t>MDN Web Docs. (s.f.). Generalidades del protocolo HTTP. Recuperado de </a:t>
            </a:r>
            <a:r>
              <a:rPr lang="es-PE" sz="2400" dirty="0">
                <a:hlinkClick r:id="rId2"/>
              </a:rPr>
              <a:t>https://developer.mozilla.org/es/docs/Web/HTTP/Guides/Overview</a:t>
            </a:r>
            <a:endParaRPr lang="es-PE" sz="2400" dirty="0"/>
          </a:p>
          <a:p>
            <a:pPr>
              <a:lnSpc>
                <a:spcPct val="150000"/>
              </a:lnSpc>
            </a:pPr>
            <a:r>
              <a:rPr lang="es-PE" sz="2400" dirty="0"/>
              <a:t>Diego, C. (2023). Servidor HTTP con Node.js. Medium. Recuperado de </a:t>
            </a:r>
            <a:r>
              <a:rPr lang="es-PE" sz="2400" dirty="0">
                <a:hlinkClick r:id="rId3"/>
              </a:rPr>
              <a:t>https://medium.com/@diego.coder/servidor-http-con-node-js-3e594f3f2733</a:t>
            </a:r>
            <a:endParaRPr lang="es-PE" sz="2400" dirty="0"/>
          </a:p>
          <a:p>
            <a:pPr>
              <a:lnSpc>
                <a:spcPct val="150000"/>
              </a:lnSpc>
            </a:pPr>
            <a:endParaRPr lang="es-PE" sz="2400" dirty="0"/>
          </a:p>
          <a:p>
            <a:pPr>
              <a:lnSpc>
                <a:spcPct val="150000"/>
              </a:lnSpc>
            </a:pPr>
            <a:endParaRPr lang="es-PE" sz="2400" dirty="0"/>
          </a:p>
          <a:p>
            <a:pPr marL="0" indent="0">
              <a:lnSpc>
                <a:spcPct val="150000"/>
              </a:lnSpc>
              <a:buNone/>
            </a:pPr>
            <a:br>
              <a:rPr lang="es-PE" sz="2400" dirty="0"/>
            </a:br>
            <a:endParaRPr lang="es-ES" sz="2400" dirty="0"/>
          </a:p>
          <a:p>
            <a:pPr marL="0" indent="0">
              <a:lnSpc>
                <a:spcPct val="150000"/>
              </a:lnSpc>
              <a:buNone/>
            </a:pP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1908750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E6201B0-1BAD-40BA-8DB0-0AB73B10E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28" y="2481579"/>
            <a:ext cx="4510344" cy="189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165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779</Words>
  <Application>Microsoft Office PowerPoint</Application>
  <PresentationFormat>Panorámica</PresentationFormat>
  <Paragraphs>77</Paragraphs>
  <Slides>20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Aptos</vt:lpstr>
      <vt:lpstr>Arial</vt:lpstr>
      <vt:lpstr>Arial MT</vt:lpstr>
      <vt:lpstr>Calibri</vt:lpstr>
      <vt:lpstr>Wingdings</vt:lpstr>
      <vt:lpstr>Tema de Office</vt:lpstr>
      <vt:lpstr>Presentación de PowerPoint</vt:lpstr>
      <vt:lpstr>Capacidades Terminales</vt:lpstr>
      <vt:lpstr>Contenido</vt:lpstr>
      <vt:lpstr>¿Qué es HTTP?</vt:lpstr>
      <vt:lpstr>Diferencias entre HTTP y HTTPS</vt:lpstr>
      <vt:lpstr>Presentación de PowerPoint</vt:lpstr>
      <vt:lpstr>Presentación de PowerPoint</vt:lpstr>
      <vt:lpstr>Presentación de PowerPoint</vt:lpstr>
      <vt:lpstr>Presentación de PowerPoint</vt:lpstr>
      <vt:lpstr>Diferencias entre Request y Response</vt:lpstr>
      <vt:lpstr>Presentación de PowerPoint</vt:lpstr>
      <vt:lpstr>Presentación de PowerPoint</vt:lpstr>
      <vt:lpstr>Reto: Implementar un servidor web</vt:lpstr>
      <vt:lpstr>Realizar pruebas en Postman</vt:lpstr>
      <vt:lpstr>Presentación de PowerPoint</vt:lpstr>
      <vt:lpstr>Presentación de PowerPoint</vt:lpstr>
      <vt:lpstr>Presentación de PowerPoint</vt:lpstr>
      <vt:lpstr>Conclusiones</vt:lpstr>
      <vt:lpstr>Referencias Bibliográficas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Antonio Lazo de la Vega</dc:creator>
  <cp:lastModifiedBy>Edwin Arevalo Sermeño</cp:lastModifiedBy>
  <cp:revision>53</cp:revision>
  <dcterms:created xsi:type="dcterms:W3CDTF">2024-02-19T13:59:52Z</dcterms:created>
  <dcterms:modified xsi:type="dcterms:W3CDTF">2025-08-30T05:37:57Z</dcterms:modified>
</cp:coreProperties>
</file>