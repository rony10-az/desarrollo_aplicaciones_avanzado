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75+tcrhE9AbCVLUydXASJIMEt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ba47f0c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g2bba47f0c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bba47f0c8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g2bba47f0c8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ba47f0c8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g2bba47f0c8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19bebcc09665a6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119bebcc09665a6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1523998" y="1840708"/>
            <a:ext cx="89480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1523999" y="4501924"/>
            <a:ext cx="89480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77372" y="39914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>
            <a:spLocks noGrp="1"/>
          </p:cNvSpPr>
          <p:nvPr>
            <p:ph type="pic" idx="2"/>
          </p:nvPr>
        </p:nvSpPr>
        <p:spPr>
          <a:xfrm>
            <a:off x="4493759" y="992187"/>
            <a:ext cx="609441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26572" y="1789339"/>
            <a:ext cx="51307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5660572" y="1789339"/>
            <a:ext cx="49130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de cierre">
  <p:cSld name="CUSTOM">
    <p:bg>
      <p:bgPr>
        <a:solidFill>
          <a:srgbClr val="FFFF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19bebcc09665a62_8"/>
          <p:cNvSpPr/>
          <p:nvPr/>
        </p:nvSpPr>
        <p:spPr>
          <a:xfrm>
            <a:off x="13575" y="16300"/>
            <a:ext cx="12192000" cy="684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g119bebcc09665a62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40828" y="2481579"/>
            <a:ext cx="4510344" cy="189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377372" y="399143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4421415" y="99218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2"/>
          </p:nvPr>
        </p:nvSpPr>
        <p:spPr>
          <a:xfrm>
            <a:off x="377372" y="2049462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 rot="5400000">
            <a:off x="3299846" y="-1096849"/>
            <a:ext cx="4351338" cy="1019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 rot="5400000">
            <a:off x="6500245" y="2060008"/>
            <a:ext cx="5811838" cy="2422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 rot="5400000">
            <a:off x="133860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2">
            <a:alphaModFix/>
          </a:blip>
          <a:srcRect l="650"/>
          <a:stretch/>
        </p:blipFill>
        <p:spPr>
          <a:xfrm>
            <a:off x="0" y="0"/>
            <a:ext cx="12192000" cy="68526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body" idx="1"/>
          </p:nvPr>
        </p:nvSpPr>
        <p:spPr>
          <a:xfrm>
            <a:off x="377372" y="1825625"/>
            <a:ext cx="1019628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dt" idx="10"/>
          </p:nvPr>
        </p:nvSpPr>
        <p:spPr>
          <a:xfrm>
            <a:off x="3773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ftr" idx="11"/>
          </p:nvPr>
        </p:nvSpPr>
        <p:spPr>
          <a:xfrm>
            <a:off x="3392715" y="63554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ldNum" idx="12"/>
          </p:nvPr>
        </p:nvSpPr>
        <p:spPr>
          <a:xfrm>
            <a:off x="7779658" y="63554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learn/modules/backpressuring-in-stream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api/stream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>
            <a:spLocks noGrp="1"/>
          </p:cNvSpPr>
          <p:nvPr>
            <p:ph type="ctrTitle"/>
          </p:nvPr>
        </p:nvSpPr>
        <p:spPr>
          <a:xfrm>
            <a:off x="953585" y="1899280"/>
            <a:ext cx="9608821" cy="149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PE"/>
              <a:t>Desarrollo de Aplicaciones Web Avanzado</a:t>
            </a:r>
            <a:endParaRPr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203955" y="6000750"/>
            <a:ext cx="894805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PE" dirty="0">
                <a:solidFill>
                  <a:srgbClr val="888888"/>
                </a:solidFill>
              </a:rPr>
              <a:t>Carrera: Diseño y Desarrollo de Software – C24</a:t>
            </a:r>
            <a:endParaRPr dirty="0">
              <a:solidFill>
                <a:srgbClr val="888888"/>
              </a:solidFill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1203956" y="3514349"/>
            <a:ext cx="8948057" cy="85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8148"/>
              <a:buFont typeface="Arial"/>
              <a:buNone/>
            </a:pPr>
            <a:r>
              <a:rPr lang="es-PE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 de la sesión: 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8148"/>
              <a:buFont typeface="Arial"/>
              <a:buNone/>
            </a:pPr>
            <a:r>
              <a:rPr lang="es-PE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Archivos y </a:t>
            </a:r>
            <a:r>
              <a:rPr lang="es-PE" sz="4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Streams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326572" y="1451610"/>
            <a:ext cx="10247086" cy="71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PE" sz="4000" dirty="0">
                <a:solidFill>
                  <a:srgbClr val="000000"/>
                </a:solidFill>
              </a:rPr>
              <a:t>Capacidades Terminales</a:t>
            </a:r>
            <a:endParaRPr sz="4000" dirty="0">
              <a:solidFill>
                <a:srgbClr val="000000"/>
              </a:solidFill>
            </a:endParaRP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326572" y="2713037"/>
            <a:ext cx="10247086" cy="220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Char char="•"/>
            </a:pPr>
            <a:r>
              <a:rPr lang="es-PE" sz="2400" dirty="0"/>
              <a:t>Maneja operaciones con archivos y flujo de datos en Node.js.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ba47f0c8b_0_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s-PE" sz="4000"/>
              <a:t>Contenido</a:t>
            </a:r>
            <a:endParaRPr sz="4000"/>
          </a:p>
        </p:txBody>
      </p:sp>
      <p:sp>
        <p:nvSpPr>
          <p:cNvPr id="88" name="Google Shape;88;g2bba47f0c8b_0_0"/>
          <p:cNvSpPr txBox="1">
            <a:spLocks noGrp="1"/>
          </p:cNvSpPr>
          <p:nvPr>
            <p:ph type="body" idx="1"/>
          </p:nvPr>
        </p:nvSpPr>
        <p:spPr>
          <a:xfrm>
            <a:off x="326572" y="2305685"/>
            <a:ext cx="10196285" cy="231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92664"/>
              <a:buChar char="●"/>
            </a:pPr>
            <a:r>
              <a:rPr lang="es-PE" sz="2400" dirty="0"/>
              <a:t>Operaciones de lectura y escritura de archivos, </a:t>
            </a:r>
            <a:r>
              <a:rPr lang="es-PE" sz="2400" dirty="0" err="1"/>
              <a:t>streams</a:t>
            </a:r>
            <a:r>
              <a:rPr lang="es-PE" sz="2400" dirty="0"/>
              <a:t>.</a:t>
            </a:r>
            <a:endParaRPr sz="2400" dirty="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92664"/>
              <a:buChar char="●"/>
            </a:pPr>
            <a:r>
              <a:rPr lang="es-PE" sz="2400" dirty="0"/>
              <a:t>Manejo eficiente de datos.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5" descr="Streams in Node.Js. Streams are a way to handle reading and… | by Bashir  Dauda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86" y="641267"/>
            <a:ext cx="9584710" cy="539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/>
        </p:nvSpPr>
        <p:spPr>
          <a:xfrm>
            <a:off x="0" y="177582"/>
            <a:ext cx="1058418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 b="1" i="0" u="none" strike="noStrike" cap="none">
                <a:solidFill>
                  <a:srgbClr val="001FC7"/>
                </a:solidFill>
                <a:latin typeface="Arial"/>
                <a:ea typeface="Arial"/>
                <a:cs typeface="Arial"/>
                <a:sym typeface="Arial"/>
              </a:rPr>
              <a:t>¿Qué son los Streams en Node.js?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rgbClr val="001F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8" descr="Dive into Node.js Streams"/>
          <p:cNvPicPr preferRelativeResize="0"/>
          <p:nvPr/>
        </p:nvPicPr>
        <p:blipFill rotWithShape="1">
          <a:blip r:embed="rId3">
            <a:alphaModFix/>
          </a:blip>
          <a:srcRect l="2786" t="11924" r="1779" b="13184"/>
          <a:stretch/>
        </p:blipFill>
        <p:spPr>
          <a:xfrm>
            <a:off x="2824759" y="956931"/>
            <a:ext cx="4934662" cy="22128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241060" y="3871852"/>
            <a:ext cx="3246528" cy="2773799"/>
          </a:xfrm>
          <a:prstGeom prst="roundRect">
            <a:avLst>
              <a:gd name="adj" fmla="val 3435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3685874" y="3871853"/>
            <a:ext cx="3246528" cy="2773799"/>
          </a:xfrm>
          <a:prstGeom prst="roundRect">
            <a:avLst>
              <a:gd name="adj" fmla="val 3435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7159287" y="3871852"/>
            <a:ext cx="3246528" cy="2773799"/>
          </a:xfrm>
          <a:prstGeom prst="roundRect">
            <a:avLst>
              <a:gd name="adj" fmla="val 3435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54066" y="41388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Definición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54066" y="4629296"/>
            <a:ext cx="2835235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Colecciones de datos que se procesan por partes. Permiten manejar grandes volúmenes de información sin cargarlos completamente en memoria.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031931" y="41388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Tipos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927514" y="4629296"/>
            <a:ext cx="2835235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Readable</a:t>
            </a: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(lectura)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Writable</a:t>
            </a: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(escritura)</a:t>
            </a:r>
          </a:p>
          <a:p>
            <a:pPr marL="285750" lvl="0" indent="-285750">
              <a:lnSpc>
                <a:spcPct val="162857"/>
              </a:lnSpc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Duplex</a:t>
            </a: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-PE" dirty="0">
                <a:latin typeface="Inter"/>
                <a:ea typeface="Inter"/>
                <a:cs typeface="Inter"/>
                <a:sym typeface="Inter"/>
              </a:rPr>
              <a:t>lectura y escritura</a:t>
            </a: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</a:t>
            </a: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(modifican datos mientras fluyen).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7464172" y="41388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Ventajas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311729" y="4629295"/>
            <a:ext cx="2941643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Menor consumo de memoria.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Mayor eficiencia.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Procesamiento en tiempo real.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Mejor experiencia de usuario.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dirty="0"/>
              <a:t>Módulo '</a:t>
            </a:r>
            <a:r>
              <a:rPr lang="es-PE" dirty="0" err="1"/>
              <a:t>fs</a:t>
            </a:r>
            <a:r>
              <a:rPr lang="es-PE" dirty="0"/>
              <a:t>' para Gestión de Archivos</a:t>
            </a:r>
            <a:endParaRPr dirty="0"/>
          </a:p>
        </p:txBody>
      </p:sp>
      <p:sp>
        <p:nvSpPr>
          <p:cNvPr id="114" name="Google Shape;114;p12"/>
          <p:cNvSpPr/>
          <p:nvPr/>
        </p:nvSpPr>
        <p:spPr>
          <a:xfrm>
            <a:off x="559875" y="2315826"/>
            <a:ext cx="218866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559874" y="2896970"/>
            <a:ext cx="3097726" cy="337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Síncronos</a:t>
            </a:r>
            <a:r>
              <a:rPr lang="es-PE" sz="18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: bloquean la ejecución.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Asíncronos</a:t>
            </a:r>
            <a:r>
              <a:rPr lang="es-PE" sz="18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: utilizan </a:t>
            </a:r>
            <a:r>
              <a:rPr lang="es-PE" sz="180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callbacks</a:t>
            </a:r>
            <a:r>
              <a:rPr lang="es-PE" sz="18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o promesas.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Asíncronos con </a:t>
            </a:r>
            <a:r>
              <a:rPr lang="es-PE" sz="18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streams</a:t>
            </a:r>
            <a:r>
              <a:rPr lang="es-PE" sz="18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: máxima eficiencia.</a:t>
            </a:r>
            <a:endParaRPr sz="180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4112137" y="2313754"/>
            <a:ext cx="218866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Operaciones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4112136" y="2894898"/>
            <a:ext cx="2828414" cy="365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readFile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writeFile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copyFile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unlink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mkdir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75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rmdir</a:t>
            </a:r>
            <a:r>
              <a:rPr lang="es-PE" sz="1800" b="1" i="0" u="none" strike="noStrike" cap="none" dirty="0">
                <a:solidFill>
                  <a:schemeClr val="accent5">
                    <a:lumMod val="75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 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=&gt; </a:t>
            </a: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rm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stat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 </a:t>
            </a:r>
            <a:r>
              <a:rPr lang="es-PE" sz="18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para archivos o directorios.</a:t>
            </a:r>
            <a:endParaRPr lang="es-PE" sz="18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7209862" y="23137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Comparación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7277100" y="2894898"/>
            <a:ext cx="3015216" cy="318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readFile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 </a:t>
            </a:r>
            <a:r>
              <a:rPr lang="es-PE" sz="18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carga todo en memoria. </a:t>
            </a:r>
          </a:p>
          <a:p>
            <a:pPr marL="285750" marR="0" lvl="0" indent="-285750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1" i="0" u="none" strike="noStrike" cap="none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createReadStream</a:t>
            </a:r>
            <a:r>
              <a:rPr lang="es-PE" sz="180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rPr>
              <a:t>() </a:t>
            </a:r>
            <a:r>
              <a:rPr lang="es-PE" sz="18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procesa por fragmentos. </a:t>
            </a:r>
          </a:p>
          <a:p>
            <a:pPr marL="285750" marR="0" lvl="0" indent="-285750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8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Ideal para archivos grandes.</a:t>
            </a:r>
            <a:endParaRPr sz="18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dirty="0" err="1"/>
              <a:t>Streams</a:t>
            </a:r>
            <a:r>
              <a:rPr lang="es-PE" dirty="0"/>
              <a:t> Legibles (</a:t>
            </a:r>
            <a:r>
              <a:rPr lang="es-PE" dirty="0" err="1"/>
              <a:t>Readable</a:t>
            </a:r>
            <a:r>
              <a:rPr lang="es-PE" dirty="0"/>
              <a:t> </a:t>
            </a:r>
            <a:r>
              <a:rPr lang="es-PE" dirty="0" err="1"/>
              <a:t>Streams</a:t>
            </a:r>
            <a:r>
              <a:rPr lang="es-PE" dirty="0"/>
              <a:t>)</a:t>
            </a:r>
            <a:endParaRPr dirty="0"/>
          </a:p>
        </p:txBody>
      </p:sp>
      <p:sp>
        <p:nvSpPr>
          <p:cNvPr id="125" name="Google Shape;125;p18"/>
          <p:cNvSpPr/>
          <p:nvPr/>
        </p:nvSpPr>
        <p:spPr>
          <a:xfrm>
            <a:off x="3715371" y="1690688"/>
            <a:ext cx="22860" cy="5163860"/>
          </a:xfrm>
          <a:prstGeom prst="roundRect">
            <a:avLst>
              <a:gd name="adj" fmla="val 369372"/>
            </a:avLst>
          </a:prstGeom>
          <a:solidFill>
            <a:srgbClr val="B2DA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918670" y="2131457"/>
            <a:ext cx="603052" cy="22860"/>
          </a:xfrm>
          <a:prstGeom prst="roundRect">
            <a:avLst>
              <a:gd name="adj" fmla="val 369372"/>
            </a:avLst>
          </a:prstGeom>
          <a:solidFill>
            <a:srgbClr val="B2DA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3489212" y="1916787"/>
            <a:ext cx="452318" cy="452318"/>
          </a:xfrm>
          <a:prstGeom prst="roundRect">
            <a:avLst>
              <a:gd name="adj" fmla="val 18668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564578" y="1954411"/>
            <a:ext cx="301466" cy="376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es-PE" sz="23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720616" y="1891665"/>
            <a:ext cx="2512933" cy="31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PE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endParaRPr sz="1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720616" y="2326362"/>
            <a:ext cx="569285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s-PE" sz="160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const</a:t>
            </a:r>
            <a:r>
              <a:rPr lang="es-PE" sz="16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readable</a:t>
            </a:r>
            <a:r>
              <a:rPr lang="es-PE" sz="16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= </a:t>
            </a:r>
            <a:r>
              <a:rPr lang="es-PE" sz="160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fs.createReadStream</a:t>
            </a:r>
            <a:r>
              <a:rPr lang="es-PE" sz="16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('archivo.txt'); Configurable con opciones como tamaño de fragmento (</a:t>
            </a:r>
            <a:r>
              <a:rPr lang="es-PE" sz="160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highWaterMark</a:t>
            </a:r>
            <a:r>
              <a:rPr lang="es-PE" sz="16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).</a:t>
            </a:r>
            <a:endParaRPr sz="160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918670" y="4134207"/>
            <a:ext cx="603052" cy="22860"/>
          </a:xfrm>
          <a:prstGeom prst="roundRect">
            <a:avLst>
              <a:gd name="adj" fmla="val 369372"/>
            </a:avLst>
          </a:prstGeom>
          <a:solidFill>
            <a:srgbClr val="B2DA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489212" y="3919538"/>
            <a:ext cx="452318" cy="452318"/>
          </a:xfrm>
          <a:prstGeom prst="roundRect">
            <a:avLst>
              <a:gd name="adj" fmla="val 18668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564578" y="3957161"/>
            <a:ext cx="301466" cy="376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es-PE" sz="23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720616" y="3894415"/>
            <a:ext cx="2512933" cy="31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PE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Eventos</a:t>
            </a:r>
            <a:endParaRPr sz="1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720616" y="4329112"/>
            <a:ext cx="5692854" cy="99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'data': recibe fragmentos. '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end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': finaliza lectura. 'error': captura problemas. '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close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': cuando el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cierra.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918670" y="5815251"/>
            <a:ext cx="603052" cy="22860"/>
          </a:xfrm>
          <a:prstGeom prst="roundRect">
            <a:avLst>
              <a:gd name="adj" fmla="val 369372"/>
            </a:avLst>
          </a:prstGeom>
          <a:solidFill>
            <a:srgbClr val="B2DA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3489212" y="5600581"/>
            <a:ext cx="452318" cy="452318"/>
          </a:xfrm>
          <a:prstGeom prst="roundRect">
            <a:avLst>
              <a:gd name="adj" fmla="val 18668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564578" y="5638205"/>
            <a:ext cx="301466" cy="376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lang="es-PE" sz="23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720616" y="5575459"/>
            <a:ext cx="2512933" cy="31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PE" sz="19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Modos</a:t>
            </a:r>
            <a:endParaRPr sz="1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720616" y="6010156"/>
            <a:ext cx="5692854" cy="64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Flujo: emite 'data' automáticamente. Pausa: requiere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readable.read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 explícito para obtener datos.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8" descr="Node.js Readable streams distill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92" y="1713547"/>
            <a:ext cx="3177587" cy="4487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6462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dirty="0" err="1"/>
              <a:t>Streams</a:t>
            </a:r>
            <a:r>
              <a:rPr lang="es-PE" dirty="0"/>
              <a:t> Escribibles (</a:t>
            </a:r>
            <a:r>
              <a:rPr lang="es-PE" dirty="0" err="1"/>
              <a:t>Writable</a:t>
            </a:r>
            <a:r>
              <a:rPr lang="es-PE" dirty="0"/>
              <a:t> </a:t>
            </a:r>
            <a:r>
              <a:rPr lang="es-PE" dirty="0" err="1"/>
              <a:t>Streams</a:t>
            </a:r>
            <a:r>
              <a:rPr lang="es-PE" dirty="0"/>
              <a:t>)</a:t>
            </a:r>
            <a:endParaRPr dirty="0"/>
          </a:p>
        </p:txBody>
      </p:sp>
      <p:sp>
        <p:nvSpPr>
          <p:cNvPr id="147" name="Google Shape;147;p19"/>
          <p:cNvSpPr/>
          <p:nvPr/>
        </p:nvSpPr>
        <p:spPr>
          <a:xfrm>
            <a:off x="1304153" y="193590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814335" y="18721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814335" y="2362571"/>
            <a:ext cx="6323767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const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writable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=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fs.createWriteStream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('destino.txt');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Configurable con opciones como encriptación.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1644314" y="3378947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154497" y="33470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Métodos clave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154497" y="3837486"/>
            <a:ext cx="598360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write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():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envía datos al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.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end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():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finaliza el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.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cork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()/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uncork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():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optimiza escrituras múltiples.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984595" y="4821984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477098" y="47775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Eventos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477098" y="5267953"/>
            <a:ext cx="5643324" cy="89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drain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':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cuando el buffer se vacía. 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finish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':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al completar todas las escrituras. 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'error':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maneja fallos.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6462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dirty="0"/>
              <a:t>Tuberías (Pipes) y Encadenamiento</a:t>
            </a:r>
            <a:endParaRPr dirty="0"/>
          </a:p>
        </p:txBody>
      </p:sp>
      <p:pic>
        <p:nvPicPr>
          <p:cNvPr id="161" name="Google Shape;161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725" y="3101683"/>
            <a:ext cx="3068878" cy="87332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/>
          <p:nvPr/>
        </p:nvSpPr>
        <p:spPr>
          <a:xfrm>
            <a:off x="877978" y="4302425"/>
            <a:ext cx="25821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PE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Concepto pipe()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77967" y="4774511"/>
            <a:ext cx="2582174" cy="1397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Conecta un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legible con uno escribible. Automatiza la gestión del flujo de datos.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9744" y="3101683"/>
            <a:ext cx="3068878" cy="87332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/>
          <p:nvPr/>
        </p:nvSpPr>
        <p:spPr>
          <a:xfrm>
            <a:off x="4087971" y="4302425"/>
            <a:ext cx="2608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PE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Encadenamiento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087985" y="4774511"/>
            <a:ext cx="2582174" cy="172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source.pipe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(transform1).pipe(transform2).pipe(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destination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);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Crea flujos de procesamiento complejos.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9763" y="3101683"/>
            <a:ext cx="3068878" cy="87332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7298005" y="4302429"/>
            <a:ext cx="1917746" cy="341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PE" sz="2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Ejemplo zlib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7298004" y="4774510"/>
            <a:ext cx="3122346" cy="179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const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gzip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=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zlib.createGzip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();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readStream.pipe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gzip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).pipe(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writeStream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); 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Comprime archivos eficientemente.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 rotWithShape="1">
          <a:blip r:embed="rId6">
            <a:alphaModFix/>
          </a:blip>
          <a:srcRect l="4463" t="5931" r="8153" b="4440"/>
          <a:stretch/>
        </p:blipFill>
        <p:spPr>
          <a:xfrm>
            <a:off x="4087985" y="1599053"/>
            <a:ext cx="2036292" cy="117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dirty="0"/>
              <a:t>Manejo de Errores y </a:t>
            </a:r>
            <a:r>
              <a:rPr lang="es-PE" dirty="0" err="1"/>
              <a:t>Backpressure</a:t>
            </a:r>
            <a:endParaRPr dirty="0"/>
          </a:p>
        </p:txBody>
      </p:sp>
      <p:pic>
        <p:nvPicPr>
          <p:cNvPr id="176" name="Google Shape;176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9798" y="211046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/>
          <p:nvPr/>
        </p:nvSpPr>
        <p:spPr>
          <a:xfrm>
            <a:off x="644448" y="2904251"/>
            <a:ext cx="2584230" cy="39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Manejo de Errores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373495" y="3428340"/>
            <a:ext cx="3031828" cy="2232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stream.on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('error', (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err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 =&gt;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console.error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err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)); </a:t>
            </a:r>
          </a:p>
          <a:p>
            <a:pPr marL="285750" marR="0" lvl="0" indent="-28575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Imprescindible en todos los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streams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para evitar fallos no controlados.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8017" y="310585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/>
          <p:nvPr/>
        </p:nvSpPr>
        <p:spPr>
          <a:xfrm>
            <a:off x="4219992" y="3939301"/>
            <a:ext cx="229207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Backpressure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937000" y="4429720"/>
            <a:ext cx="2977141" cy="2232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Ocurre cuando el destino procesa más lento que la fuente. </a:t>
            </a:r>
          </a:p>
          <a:p>
            <a:pPr marL="285750" marR="0" lvl="0" indent="-285750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Puede causar fugas de memoria.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5842" y="211046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7396692" y="2940522"/>
            <a:ext cx="229195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Estrategias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7396692" y="3428340"/>
            <a:ext cx="3031828" cy="274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62857"/>
              </a:lnSpc>
              <a:buSzPts val="175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Verificar resultados de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write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(). </a:t>
            </a:r>
          </a:p>
          <a:p>
            <a:pPr marL="285750" lvl="0" indent="-285750">
              <a:lnSpc>
                <a:spcPct val="162857"/>
              </a:lnSpc>
              <a:buSzPts val="175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Implementar pausas con </a:t>
            </a:r>
            <a:r>
              <a:rPr lang="es-PE" sz="1600" b="1" dirty="0"/>
              <a:t>.pause()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. </a:t>
            </a:r>
          </a:p>
          <a:p>
            <a:pPr marL="285750" lvl="0" indent="-285750">
              <a:lnSpc>
                <a:spcPct val="162857"/>
              </a:lnSpc>
              <a:buSzPts val="175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Utilizar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highWaterMark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adecuadamente.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95469" y="1723121"/>
            <a:ext cx="2292072" cy="1148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dirty="0"/>
              <a:t>Casos de Uso y Mejores Prácticas</a:t>
            </a:r>
            <a:endParaRPr dirty="0"/>
          </a:p>
        </p:txBody>
      </p:sp>
      <p:sp>
        <p:nvSpPr>
          <p:cNvPr id="191" name="Google Shape;191;p22"/>
          <p:cNvSpPr/>
          <p:nvPr/>
        </p:nvSpPr>
        <p:spPr>
          <a:xfrm>
            <a:off x="118201" y="1923458"/>
            <a:ext cx="3482134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Procesamiento de archivos grandes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118201" y="2768206"/>
            <a:ext cx="3482134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Logs,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datasets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,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backups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.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Streams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permiten procesar gigabytes con memoria limitada.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5015" y="2276458"/>
            <a:ext cx="3270200" cy="344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/>
          <p:nvPr/>
        </p:nvSpPr>
        <p:spPr>
          <a:xfrm>
            <a:off x="3932517" y="2543872"/>
            <a:ext cx="537490" cy="566976"/>
          </a:xfrm>
          <a:prstGeom prst="roundRect">
            <a:avLst>
              <a:gd name="adj" fmla="val 1611154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4072153" y="2667816"/>
            <a:ext cx="241882" cy="31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7355751" y="1923458"/>
            <a:ext cx="327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0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APIs</a:t>
            </a:r>
            <a:r>
              <a:rPr lang="es-PE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servidores web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7381078" y="2337056"/>
            <a:ext cx="3051972" cy="188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Transmisión de respuestas HTTP (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FormData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y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fetch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o</a:t>
            </a:r>
            <a:r>
              <a:rPr lang="es-PE" sz="1600" b="1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s-PE" sz="1600" b="1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axios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).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Streaming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 de audio/video. Descarga progresiva de archivos.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5015" y="2276458"/>
            <a:ext cx="3270200" cy="344959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6280192" y="2543872"/>
            <a:ext cx="537490" cy="566976"/>
          </a:xfrm>
          <a:prstGeom prst="roundRect">
            <a:avLst>
              <a:gd name="adj" fmla="val 1611154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6419828" y="2667816"/>
            <a:ext cx="241882" cy="31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7381078" y="4379746"/>
            <a:ext cx="2845366" cy="400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ETL y procesamiento de datos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7355751" y="5181706"/>
            <a:ext cx="2845365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Transformación de formatos. Limpieza de datos. Análisis en tiempo real.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5015" y="2276458"/>
            <a:ext cx="3270200" cy="344959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6280192" y="4891546"/>
            <a:ext cx="537490" cy="566976"/>
          </a:xfrm>
          <a:prstGeom prst="roundRect">
            <a:avLst>
              <a:gd name="adj" fmla="val 1611154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6419828" y="5015491"/>
            <a:ext cx="241882" cy="31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912547" y="4374240"/>
            <a:ext cx="268778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PE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Mejores prácticas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4723" y="4864659"/>
            <a:ext cx="3555612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Liberar recursos correctamente. Manejar errores en cada </a:t>
            </a:r>
            <a:r>
              <a:rPr lang="es-PE" sz="1600" b="0" i="0" u="none" strike="noStrike" cap="none" dirty="0" err="1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stream</a:t>
            </a:r>
            <a:r>
              <a:rPr lang="es-PE" sz="1600" b="0" i="0" u="none" strike="noStrike" cap="none" dirty="0">
                <a:solidFill>
                  <a:srgbClr val="000000"/>
                </a:solidFill>
                <a:latin typeface="+mn-lt"/>
                <a:ea typeface="Inter"/>
                <a:cs typeface="Inter"/>
                <a:sym typeface="Inter"/>
              </a:rPr>
              <a:t>. Modularizar el código.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5015" y="2276458"/>
            <a:ext cx="3270200" cy="344959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/>
          <p:nvPr/>
        </p:nvSpPr>
        <p:spPr>
          <a:xfrm>
            <a:off x="3932517" y="4891546"/>
            <a:ext cx="537490" cy="566976"/>
          </a:xfrm>
          <a:prstGeom prst="roundRect">
            <a:avLst>
              <a:gd name="adj" fmla="val 1611154"/>
            </a:avLst>
          </a:prstGeom>
          <a:solidFill>
            <a:srgbClr val="CCF4FF"/>
          </a:solidFill>
          <a:ln w="9525" cap="flat" cmpd="sng">
            <a:solidFill>
              <a:srgbClr val="B2D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072153" y="5015491"/>
            <a:ext cx="241882" cy="31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PE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ba47f0c8b_0_22"/>
          <p:cNvSpPr txBox="1">
            <a:spLocks noGrp="1"/>
          </p:cNvSpPr>
          <p:nvPr>
            <p:ph type="title"/>
          </p:nvPr>
        </p:nvSpPr>
        <p:spPr>
          <a:xfrm>
            <a:off x="399723" y="467401"/>
            <a:ext cx="9759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PE" sz="4000" dirty="0"/>
              <a:t>Conclusiones</a:t>
            </a:r>
            <a:endParaRPr sz="4000" dirty="0"/>
          </a:p>
        </p:txBody>
      </p:sp>
      <p:sp>
        <p:nvSpPr>
          <p:cNvPr id="216" name="Google Shape;216;g2bba47f0c8b_0_22"/>
          <p:cNvSpPr txBox="1"/>
          <p:nvPr/>
        </p:nvSpPr>
        <p:spPr>
          <a:xfrm>
            <a:off x="399723" y="1929568"/>
            <a:ext cx="8928428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PE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lang="es-PE" sz="2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streams</a:t>
            </a:r>
            <a:r>
              <a:rPr lang="es-PE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cruciales para aplicaciones Node.js de alto rendimiento.</a:t>
            </a:r>
            <a:endParaRPr sz="2200" dirty="0"/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PE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Permiten manejar grandes volúmenes de datos con recursos limitados.</a:t>
            </a:r>
            <a:endParaRPr sz="2200" dirty="0"/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PE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 ofrece una API de </a:t>
            </a:r>
            <a:r>
              <a:rPr lang="es-PE" sz="2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streams</a:t>
            </a:r>
            <a:r>
              <a:rPr lang="es-PE" sz="2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compatible con numerosos módulos.</a:t>
            </a:r>
            <a:endParaRPr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ba47f0c8b_0_17"/>
          <p:cNvSpPr txBox="1">
            <a:spLocks noGrp="1"/>
          </p:cNvSpPr>
          <p:nvPr>
            <p:ph type="title"/>
          </p:nvPr>
        </p:nvSpPr>
        <p:spPr>
          <a:xfrm>
            <a:off x="326572" y="365125"/>
            <a:ext cx="102470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PE" sz="4000"/>
              <a:t>Referencias Bibliográficas</a:t>
            </a:r>
            <a:endParaRPr sz="40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5083BE-D63F-C091-FF87-0FA04D879AFA}"/>
              </a:ext>
            </a:extLst>
          </p:cNvPr>
          <p:cNvSpPr txBox="1"/>
          <p:nvPr/>
        </p:nvSpPr>
        <p:spPr>
          <a:xfrm>
            <a:off x="326572" y="1690688"/>
            <a:ext cx="10017578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400" dirty="0"/>
              <a:t>Node.js. (s.f.). </a:t>
            </a:r>
            <a:r>
              <a:rPr lang="es-PE" sz="2400" dirty="0" err="1"/>
              <a:t>Backpressuring</a:t>
            </a:r>
            <a:r>
              <a:rPr lang="es-PE" sz="2400" dirty="0"/>
              <a:t> in </a:t>
            </a:r>
            <a:r>
              <a:rPr lang="es-PE" sz="2400" dirty="0" err="1"/>
              <a:t>Streams</a:t>
            </a:r>
            <a:r>
              <a:rPr lang="es-PE" sz="2400" dirty="0"/>
              <a:t>. Node.js. Recuperado de </a:t>
            </a:r>
            <a:r>
              <a:rPr lang="es-PE" sz="2400" dirty="0">
                <a:hlinkClick r:id="rId3"/>
              </a:rPr>
              <a:t>https://nodejs.org/en/learn/modules/backpressuring-in-streams</a:t>
            </a:r>
            <a:r>
              <a:rPr lang="es-PE" sz="24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dirty="0"/>
              <a:t>Node.js. (s.f.). </a:t>
            </a:r>
            <a:r>
              <a:rPr lang="es-MX" sz="2400" dirty="0" err="1"/>
              <a:t>Streams</a:t>
            </a:r>
            <a:r>
              <a:rPr lang="es-MX" sz="2400" dirty="0"/>
              <a:t> (Documentación de la API). Node.js. Recuperado de </a:t>
            </a:r>
            <a:r>
              <a:rPr lang="es-MX" sz="2400" dirty="0">
                <a:hlinkClick r:id="rId4"/>
              </a:rPr>
              <a:t>https://nodejs.org/api/stream.html</a:t>
            </a:r>
            <a:r>
              <a:rPr lang="es-MX" sz="2400" dirty="0"/>
              <a:t> </a:t>
            </a:r>
            <a:endParaRPr lang="es-PE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671</Words>
  <Application>Microsoft Office PowerPoint</Application>
  <PresentationFormat>Panorámica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Inter</vt:lpstr>
      <vt:lpstr>Calibri</vt:lpstr>
      <vt:lpstr>Arial</vt:lpstr>
      <vt:lpstr>Tema de Office</vt:lpstr>
      <vt:lpstr>Desarrollo de Aplicaciones Web Avanzado</vt:lpstr>
      <vt:lpstr>Capacidades Terminales</vt:lpstr>
      <vt:lpstr>Contenido</vt:lpstr>
      <vt:lpstr>Presentación de PowerPoint</vt:lpstr>
      <vt:lpstr>Presentación de PowerPoint</vt:lpstr>
      <vt:lpstr>Módulo 'fs' para Gestión de Archivos</vt:lpstr>
      <vt:lpstr>Streams Legibles (Readable Streams)</vt:lpstr>
      <vt:lpstr>Streams Escribibles (Writable Streams)</vt:lpstr>
      <vt:lpstr>Tuberías (Pipes) y Encadenamiento</vt:lpstr>
      <vt:lpstr>Manejo de Errores y Backpressure</vt:lpstr>
      <vt:lpstr>Casos de Uso y Mejores Prácticas</vt:lpstr>
      <vt:lpstr>Conclusiones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Antonio Lazo de la Vega</dc:creator>
  <cp:lastModifiedBy>Edwin Arevalo Sermeño</cp:lastModifiedBy>
  <cp:revision>25</cp:revision>
  <dcterms:created xsi:type="dcterms:W3CDTF">2024-02-19T13:59:52Z</dcterms:created>
  <dcterms:modified xsi:type="dcterms:W3CDTF">2025-09-05T22:17:29Z</dcterms:modified>
</cp:coreProperties>
</file>